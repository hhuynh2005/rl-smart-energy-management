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ới thiệu" id="{d6db8fa0-ddf3-529f-d50f-0f0e37c9ea92}">
          <p14:sldIdLst>
            <p14:sldId id="256"/>
            <p14:sldId id="257"/>
            <p14:sldId id="258"/>
            <p14:sldId id="259"/>
            <p14:sldId id="260"/>
          </p14:sldIdLst>
        </p14:section>
        <p14:section name="Đề xuất đề tài" id="{6c7069b9-adee-1c3e-38ba-7f59ed5fea43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Mô hình hóa MDP" id="{e1ecb8d9-803e-1242-1482-0c10d566b20a}">
          <p14:sldIdLst>
            <p14:sldId id="267"/>
            <p14:sldId id="268"/>
            <p14:sldId id="269"/>
            <p14:sldId id="270"/>
          </p14:sldIdLst>
        </p14:section>
        <p14:section name="Kế hoạch" id="{535c1ff2-336f-c53d-c3fe-0bec6daccd8f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đề tài SEMS-RL: dùng học tăng cường để điều phối pin lưu trữ BESS kết hợp điện mặt trời.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B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SEMS-RL  |  Nhóm 7  |  65KTPM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1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" name="Decor 2"/>
          <p:cNvSpPr/>
          <p:nvPr/>
        </p:nvSpPr>
        <p:spPr>
          <a:xfrm>
            <a:off x="7406640" y="3291840"/>
            <a:ext cx="2926080" cy="292608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" name="Logo card"/>
          <p:cNvSpPr/>
          <p:nvPr/>
        </p:nvSpPr>
        <p:spPr>
          <a:xfrm>
            <a:off x="548640" y="457200"/>
            <a:ext cx="13258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</p:spPr>
      </p:sp>
      <p:pic>
        <p:nvPicPr>
          <p:cNvPr id="5" name="Image 0" descr="Logo Trường Đại học Thủy lợ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30352"/>
            <a:ext cx="1143000" cy="8595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TRƯỜNG ĐẠI HỌC THỦY LỢI  ·  KHOA CÔNG NGHỆ THÔNG TIN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BÀI TẬP LỚN HỌC TĂNG CƯỜNG VÀ ỨNG DỤNG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Điều khiển năng lượng thông minh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Smart Energy Management System – SEMS-RL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703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GVHD: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TS. Lê Nguyễn Tuấn Thành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Nhóm 7 – Lớp 65KTPM  ·  Hà Nội, 09/2026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Nội dung trình bày</a:t>
            </a:r>
            <a:endParaRPr lang="en-US" sz="2800" dirty="0"/>
          </a:p>
        </p:txBody>
      </p:sp>
      <p:sp>
        <p:nvSpPr>
          <p:cNvPr id="3" name="Agenda 1"/>
          <p:cNvSpPr/>
          <p:nvPr/>
        </p:nvSpPr>
        <p:spPr>
          <a:xfrm>
            <a:off x="457200" y="1097280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Circle 1"/>
          <p:cNvSpPr/>
          <p:nvPr/>
        </p:nvSpPr>
        <p:spPr>
          <a:xfrm>
            <a:off x="640080" y="11887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9728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Nhóm thực hiện &amp; phân công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09728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Thành viên, vai trò, nhiệm vụ và sản phẩm đầu ra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09728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Slide 3–5</a:t>
            </a:r>
            <a:endParaRPr lang="en-US" sz="1050" dirty="0"/>
          </a:p>
        </p:txBody>
      </p:sp>
      <p:sp>
        <p:nvSpPr>
          <p:cNvPr id="9" name="Agenda 2"/>
          <p:cNvSpPr/>
          <p:nvPr/>
        </p:nvSpPr>
        <p:spPr>
          <a:xfrm>
            <a:off x="457200" y="1801368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0" name="Circle 2"/>
          <p:cNvSpPr/>
          <p:nvPr/>
        </p:nvSpPr>
        <p:spPr>
          <a:xfrm>
            <a:off x="640080" y="1892808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180136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Đề xuất đề tài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80136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Bài toán, động lực chọn RL, mục tiêu, công nghệ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1801368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Slide 6–9</a:t>
            </a:r>
            <a:endParaRPr lang="en-US" sz="1050" dirty="0"/>
          </a:p>
        </p:txBody>
      </p:sp>
      <p:sp>
        <p:nvSpPr>
          <p:cNvPr id="15" name="Agenda 3"/>
          <p:cNvSpPr/>
          <p:nvPr/>
        </p:nvSpPr>
        <p:spPr>
          <a:xfrm>
            <a:off x="457200" y="2505456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6" name="Circle 3"/>
          <p:cNvSpPr/>
          <p:nvPr/>
        </p:nvSpPr>
        <p:spPr>
          <a:xfrm>
            <a:off x="640080" y="2596896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596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5054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Tính năng &amp; kiến trúc hệ thống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50545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 phân hệ, luồng hoạt động, đối chuẩn hiệu năng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505456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Slide 10–11</a:t>
            </a:r>
            <a:endParaRPr lang="en-US" sz="1050" dirty="0"/>
          </a:p>
        </p:txBody>
      </p:sp>
      <p:sp>
        <p:nvSpPr>
          <p:cNvPr id="21" name="Agenda 4"/>
          <p:cNvSpPr/>
          <p:nvPr/>
        </p:nvSpPr>
        <p:spPr>
          <a:xfrm>
            <a:off x="457200" y="3209544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2" name="Circle 4"/>
          <p:cNvSpPr/>
          <p:nvPr/>
        </p:nvSpPr>
        <p:spPr>
          <a:xfrm>
            <a:off x="640080" y="3300984"/>
            <a:ext cx="438912" cy="438912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300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20954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Mô hình hóa MDP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320954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Trạng thái, hành động, chuyển trạng thái, hàm thưởng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209544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Slide 12–15</a:t>
            </a:r>
            <a:endParaRPr lang="en-US" sz="1050" dirty="0"/>
          </a:p>
        </p:txBody>
      </p:sp>
      <p:sp>
        <p:nvSpPr>
          <p:cNvPr id="27" name="Agenda 5"/>
          <p:cNvSpPr/>
          <p:nvPr/>
        </p:nvSpPr>
        <p:spPr>
          <a:xfrm>
            <a:off x="457200" y="3913632"/>
            <a:ext cx="82296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8" name="Circle 5"/>
          <p:cNvSpPr/>
          <p:nvPr/>
        </p:nvSpPr>
        <p:spPr>
          <a:xfrm>
            <a:off x="640080" y="4005072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391363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Kế hoạch &amp; kỳ vọng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391363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Lộ trình 6 buổi thực hành và kết quả mong đợi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391363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accent6"/>
                </a:solidFill>
              </a:rPr>
              <a:t>Slide 16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Nhóm thực hiện &amp; phân công nhiệm vụ</a:t>
            </a:r>
            <a:endParaRPr lang="en-US" sz="2800" dirty="0"/>
          </a:p>
        </p:txBody>
      </p:sp>
      <p:sp>
        <p:nvSpPr>
          <p:cNvPr id="3" name="Card Nguyễn Văn Huỳnh"/>
          <p:cNvSpPr/>
          <p:nvPr/>
        </p:nvSpPr>
        <p:spPr>
          <a:xfrm>
            <a:off x="457200" y="1188720"/>
            <a:ext cx="1554480" cy="324612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Circle 1"/>
          <p:cNvSpPr/>
          <p:nvPr/>
        </p:nvSpPr>
        <p:spPr>
          <a:xfrm>
            <a:off x="96012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Nguyễn Văn Huỳnh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2351170599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Nhóm trưởng</a:t>
            </a:r>
            <a:endParaRPr lang="en-US" sz="1000" dirty="0"/>
          </a:p>
        </p:txBody>
      </p:sp>
      <p:sp>
        <p:nvSpPr>
          <p:cNvPr id="8" name="Tag 1"/>
          <p:cNvSpPr/>
          <p:nvPr/>
        </p:nvSpPr>
        <p:spPr>
          <a:xfrm>
            <a:off x="640080" y="310896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MÔI TRƯỜNG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47472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Kiến trúc &amp; động lực học pin BESS</a:t>
            </a:r>
            <a:endParaRPr lang="en-US" sz="1050" dirty="0"/>
          </a:p>
        </p:txBody>
      </p:sp>
      <p:sp>
        <p:nvSpPr>
          <p:cNvPr id="11" name="Card Lý Đình Sơn"/>
          <p:cNvSpPr/>
          <p:nvPr/>
        </p:nvSpPr>
        <p:spPr>
          <a:xfrm>
            <a:off x="2103120" y="1188720"/>
            <a:ext cx="1554480" cy="324612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2" name="Circle 2"/>
          <p:cNvSpPr/>
          <p:nvPr/>
        </p:nvSpPr>
        <p:spPr>
          <a:xfrm>
            <a:off x="260604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060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Lý Đình Sơn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2351170615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Thành viên</a:t>
            </a:r>
            <a:endParaRPr lang="en-US" sz="1000" dirty="0"/>
          </a:p>
        </p:txBody>
      </p:sp>
      <p:sp>
        <p:nvSpPr>
          <p:cNvPr id="16" name="Tag 2"/>
          <p:cNvSpPr/>
          <p:nvPr/>
        </p:nvSpPr>
        <p:spPr>
          <a:xfrm>
            <a:off x="2286000" y="310896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8600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MÔI TRƯỜNG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212848" y="347472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Dữ liệu chuỗi thời gian &amp; tích hợp Gym Env</a:t>
            </a:r>
            <a:endParaRPr lang="en-US" sz="1050" dirty="0"/>
          </a:p>
        </p:txBody>
      </p:sp>
      <p:sp>
        <p:nvSpPr>
          <p:cNvPr id="19" name="Card Nguyễn Văn Trường"/>
          <p:cNvSpPr/>
          <p:nvPr/>
        </p:nvSpPr>
        <p:spPr>
          <a:xfrm>
            <a:off x="3749040" y="1188720"/>
            <a:ext cx="1554480" cy="324612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0" name="Circle 3"/>
          <p:cNvSpPr/>
          <p:nvPr/>
        </p:nvSpPr>
        <p:spPr>
          <a:xfrm>
            <a:off x="4251960" y="13716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51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Nguyễn Văn Trường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2351170625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Thành viên</a:t>
            </a:r>
            <a:endParaRPr lang="en-US" sz="1000" dirty="0"/>
          </a:p>
        </p:txBody>
      </p:sp>
      <p:sp>
        <p:nvSpPr>
          <p:cNvPr id="24" name="Tag 3"/>
          <p:cNvSpPr/>
          <p:nvPr/>
        </p:nvSpPr>
        <p:spPr>
          <a:xfrm>
            <a:off x="3931920" y="310896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3192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THUẬT TOÁN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858768" y="347472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Lõi chính: Soft Actor-Critic (SAC Lead)</a:t>
            </a:r>
            <a:endParaRPr lang="en-US" sz="1050" dirty="0"/>
          </a:p>
        </p:txBody>
      </p:sp>
      <p:sp>
        <p:nvSpPr>
          <p:cNvPr id="27" name="Card Phạm Quang Anh"/>
          <p:cNvSpPr/>
          <p:nvPr/>
        </p:nvSpPr>
        <p:spPr>
          <a:xfrm>
            <a:off x="5394960" y="1188720"/>
            <a:ext cx="1554480" cy="324612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8" name="Circle 4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8978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Phạm Quang Anh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2351170573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Thành viên</a:t>
            </a:r>
            <a:endParaRPr lang="en-US" sz="1000" dirty="0"/>
          </a:p>
        </p:txBody>
      </p:sp>
      <p:sp>
        <p:nvSpPr>
          <p:cNvPr id="32" name="Tag 4"/>
          <p:cNvSpPr/>
          <p:nvPr/>
        </p:nvSpPr>
        <p:spPr>
          <a:xfrm>
            <a:off x="5577840" y="310896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57784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THUẬT TOÁN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504688" y="347472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So sánh: TD3 &amp; Rule-based Baseline</a:t>
            </a:r>
            <a:endParaRPr lang="en-US" sz="1050" dirty="0"/>
          </a:p>
        </p:txBody>
      </p:sp>
      <p:sp>
        <p:nvSpPr>
          <p:cNvPr id="35" name="Card Nguyễn Tùng Dương"/>
          <p:cNvSpPr/>
          <p:nvPr/>
        </p:nvSpPr>
        <p:spPr>
          <a:xfrm>
            <a:off x="7040880" y="1188720"/>
            <a:ext cx="1554480" cy="324612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36" name="Circle 5"/>
          <p:cNvSpPr/>
          <p:nvPr/>
        </p:nvSpPr>
        <p:spPr>
          <a:xfrm>
            <a:off x="7543800" y="13716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543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Nguyễn Tùng Dương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2351170588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Thành viên</a:t>
            </a:r>
            <a:endParaRPr lang="en-US" sz="1000" dirty="0"/>
          </a:p>
        </p:txBody>
      </p:sp>
      <p:sp>
        <p:nvSpPr>
          <p:cNvPr id="40" name="Tag 5"/>
          <p:cNvSpPr/>
          <p:nvPr/>
        </p:nvSpPr>
        <p:spPr>
          <a:xfrm>
            <a:off x="7223760" y="310896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22376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THUẬT TOÁN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150608" y="347472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So sánh: PPO &amp; đánh giá so chuẩn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Nhóm Môi trường: nhiệm vụ &amp; sản phẩm</a:t>
            </a:r>
            <a:endParaRPr lang="en-US" sz="2800" dirty="0"/>
          </a:p>
        </p:txBody>
      </p:sp>
      <p:sp>
        <p:nvSpPr>
          <p:cNvPr id="3" name="Person Nguyễn Văn Huỳnh (Nhóm trưởng)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Circle 1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80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Nguyễn Văn Huỳnh (Nhóm trưởng)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54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Kiến trúc &amp; Lead – Nhóm Môi trường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202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Quản lý tiến độ chung của toàn nhóm.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Thiết kế kiến trúc môi trường mô phỏng chuẩn Gymnasium (MicrogridBessEnv).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Xây dựng mô hình toán động lực học pin BESS: phương trình nạp/xả, tổn thất nhiệt η, suy thoái theo chu kỳ.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Định nghĩa không gian trạng thái S, hành động A và hàm chuyển trạng thái P.</a:t>
            </a:r>
            <a:endParaRPr lang="en-US" sz="1100" dirty="0"/>
          </a:p>
        </p:txBody>
      </p:sp>
      <p:sp>
        <p:nvSpPr>
          <p:cNvPr id="9" name="Output Nguyễn Văn Huỳnh (Nhóm trưởng)"/>
          <p:cNvSpPr/>
          <p:nvPr/>
        </p:nvSpPr>
        <p:spPr>
          <a:xfrm>
            <a:off x="548640" y="3611880"/>
            <a:ext cx="384048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SẢN PHẨM ĐẦU 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Module MicrogridBessEnv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Bản đặc tả mô hình toán học MDP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Phương trình động lực học pin</a:t>
            </a:r>
            <a:endParaRPr lang="en-US" sz="950" dirty="0"/>
          </a:p>
        </p:txBody>
      </p:sp>
      <p:sp>
        <p:nvSpPr>
          <p:cNvPr id="11" name="Person Lý Đình Sơn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2" name="Circle 2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280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Lý Đình Sơn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5544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Data &amp; Env Integration – Nhóm Môi trường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9202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Thu thập, làm sạch, chuẩn hóa dữ liệu chuỗi thời gian: PV, phụ tải, biểu giá TOU của EVN.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Lập trình Data Pipeline nạp dữ liệu vào môi trường Gym.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Thiết kế Safety Guardrails: ngăn sạc/xả vượt ngưỡng, chặn lỗi vật lý khi pin cạn/đầy.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Tạo môi trường nhiễu ngẫu nhiên để thử độ bền (robustness).</a:t>
            </a:r>
            <a:endParaRPr lang="en-US" sz="1100" dirty="0"/>
          </a:p>
        </p:txBody>
      </p:sp>
      <p:sp>
        <p:nvSpPr>
          <p:cNvPr id="17" name="Output Lý Đình Sơn"/>
          <p:cNvSpPr/>
          <p:nvPr/>
        </p:nvSpPr>
        <p:spPr>
          <a:xfrm>
            <a:off x="4754880" y="3611880"/>
            <a:ext cx="384048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SẢN PHẨM ĐẦU 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Bộ dữ liệu sạch data/processed.csv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Pipeline nạp dữ liệu thời gian thực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Module Safety Guardrails cho môi trường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Nhóm Thuật toán: nhiệm vụ &amp; sản phẩm</a:t>
            </a:r>
            <a:endParaRPr lang="en-US" sz="2800" dirty="0"/>
          </a:p>
        </p:txBody>
      </p:sp>
      <p:sp>
        <p:nvSpPr>
          <p:cNvPr id="3" name="Person Nguyễn Văn Trường"/>
          <p:cNvSpPr/>
          <p:nvPr/>
        </p:nvSpPr>
        <p:spPr>
          <a:xfrm>
            <a:off x="457200" y="1143000"/>
            <a:ext cx="2651760" cy="338328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Circle 3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80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Nguyễn Văn Trường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544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Algorithm 1: SAC Lead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202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Phụ trách thuật toán lõi SAC.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Mạng Actor-Critic, Gaussian Policy cho hành động liên tục.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Replay Buffer, tự động tối đa Entropy (auto-tuned α).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Thiết kế hàm thưởng đa mục tiêu R.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Tinh chỉnh siêu tham số, tăng tốc hội tụ.</a:t>
            </a:r>
            <a:endParaRPr lang="en-US" sz="1000" dirty="0"/>
          </a:p>
        </p:txBody>
      </p:sp>
      <p:sp>
        <p:nvSpPr>
          <p:cNvPr id="9" name="Output Nguyễn Văn Trường"/>
          <p:cNvSpPr/>
          <p:nvPr/>
        </p:nvSpPr>
        <p:spPr>
          <a:xfrm>
            <a:off x="548640" y="3611880"/>
            <a:ext cx="246888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SẢN PHẨM ĐẦU 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Mã nguồn SAC hoàn chỉnh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Log huấn luyện, biểu đồ hội tụ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Báo cáo phân tích hàm thưởng</a:t>
            </a:r>
            <a:endParaRPr lang="en-US" sz="950" dirty="0"/>
          </a:p>
        </p:txBody>
      </p:sp>
      <p:sp>
        <p:nvSpPr>
          <p:cNvPr id="11" name="Person Phạm Quang Anh"/>
          <p:cNvSpPr/>
          <p:nvPr/>
        </p:nvSpPr>
        <p:spPr>
          <a:xfrm>
            <a:off x="3246120" y="1143000"/>
            <a:ext cx="2651760" cy="338328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2" name="Circle 4"/>
          <p:cNvSpPr/>
          <p:nvPr/>
        </p:nvSpPr>
        <p:spPr>
          <a:xfrm>
            <a:off x="3383280" y="12801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280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Phạm Quang Anh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5544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Algorithm 2: TD3 &amp; Baseline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9202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Triển khai thuật toán TD3.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Twin Critic chống overestimation bias, cập nhật policy trễ.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Xây dựng Rule-based Heuristic theo khung giờ TOU làm mốc so sánh.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Tinh chỉnh siêu tham số, đối đầu TD3 và SAC.</a:t>
            </a:r>
            <a:endParaRPr lang="en-US" sz="1000" dirty="0"/>
          </a:p>
        </p:txBody>
      </p:sp>
      <p:sp>
        <p:nvSpPr>
          <p:cNvPr id="17" name="Output Phạm Quang Anh"/>
          <p:cNvSpPr/>
          <p:nvPr/>
        </p:nvSpPr>
        <p:spPr>
          <a:xfrm>
            <a:off x="3337560" y="3611880"/>
            <a:ext cx="246888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290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SẢN PHẨM ĐẦU 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Mã nguồn TD3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Mã nguồn Rule-based Baseline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Báo cáo đối chuẩn SAC vs TD3</a:t>
            </a:r>
            <a:endParaRPr lang="en-US" sz="950" dirty="0"/>
          </a:p>
        </p:txBody>
      </p:sp>
      <p:sp>
        <p:nvSpPr>
          <p:cNvPr id="19" name="Person Nguyễn Tùng Dương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0" name="Circle 5"/>
          <p:cNvSpPr/>
          <p:nvPr/>
        </p:nvSpPr>
        <p:spPr>
          <a:xfrm>
            <a:off x="6172200" y="12801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12801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Nguyễn Tùng Dương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15544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Algorithm 3: PPO &amp; Evaluation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192024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Triển khai PPO cho điều khiển liên tục.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Pipeline kiểm thử, đánh giá SAC, TD3, PPO và Baseline.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Đo % chi phí tiết kiệm và % cắt đỉnh (Peak Shaving Ratio).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Xây dựng Dashboard kết quả và slide thuyết trình.</a:t>
            </a:r>
            <a:endParaRPr lang="en-US" sz="1000" dirty="0"/>
          </a:p>
        </p:txBody>
      </p:sp>
      <p:sp>
        <p:nvSpPr>
          <p:cNvPr id="25" name="Output Nguyễn Tùng Dương"/>
          <p:cNvSpPr/>
          <p:nvPr/>
        </p:nvSpPr>
        <p:spPr>
          <a:xfrm>
            <a:off x="6126480" y="3611880"/>
            <a:ext cx="246888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SẢN PHẨM ĐẦU 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Mã nguồn PPO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Pipeline đánh giá &amp; bảng so sánh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Slide thuyết trình &amp; Dashboard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Đề tài &amp; mô tả bài toán</a:t>
            </a:r>
            <a:endParaRPr lang="en-US" sz="2800" dirty="0"/>
          </a:p>
        </p:txBody>
      </p:sp>
      <p:sp>
        <p:nvSpPr>
          <p:cNvPr id="3" name="Card bài toán"/>
          <p:cNvSpPr/>
          <p:nvPr/>
        </p:nvSpPr>
        <p:spPr>
          <a:xfrm>
            <a:off x="457200" y="1143000"/>
            <a:ext cx="493776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Hệ thống Quản lý và Điều khiển Năng lượng Thông minh bằng Học tăng cường (SEMS-RL)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Xây dựng tác tử RL tự động điều phối nạp/xả của hệ thống pin lưu trữ năng lượng (BESS).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Kết hợp điện mặt trời áp mái (Solar PV) tại nhà máy, tòa nhà thông minh hoặc lưới điện siêu nhỏ (Microgrid).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Mục tiêu: giảm chi phí điện, cân bằng tải, bảo vệ tuổi thọ pin và tận dụng tối đa năng lượng sạch.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ỨNG DỤNG THỰC TẾ</a:t>
            </a:r>
            <a:endParaRPr lang="en-US" sz="1200" dirty="0"/>
          </a:p>
        </p:txBody>
      </p:sp>
      <p:sp>
        <p:nvSpPr>
          <p:cNvPr id="7" name="App 1"/>
          <p:cNvSpPr/>
          <p:nvPr/>
        </p:nvSpPr>
        <p:spPr>
          <a:xfrm>
            <a:off x="5669280" y="1508760"/>
            <a:ext cx="301752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8" name="Circle 1"/>
          <p:cNvSpPr/>
          <p:nvPr/>
        </p:nvSpPr>
        <p:spPr>
          <a:xfrm>
            <a:off x="5806440" y="163677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806440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50876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Nhà máy sản xuất công nghiệp</a:t>
            </a:r>
            <a:endParaRPr lang="en-US" sz="1200" dirty="0"/>
          </a:p>
        </p:txBody>
      </p:sp>
      <p:sp>
        <p:nvSpPr>
          <p:cNvPr id="11" name="App 2"/>
          <p:cNvSpPr/>
          <p:nvPr/>
        </p:nvSpPr>
        <p:spPr>
          <a:xfrm>
            <a:off x="5669280" y="2286000"/>
            <a:ext cx="3017520" cy="658368"/>
          </a:xfrm>
          <a:prstGeom prst="roundRect">
            <a:avLst>
              <a:gd name="adj" fmla="val 13889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2" name="Circle 2"/>
          <p:cNvSpPr/>
          <p:nvPr/>
        </p:nvSpPr>
        <p:spPr>
          <a:xfrm>
            <a:off x="5806440" y="24140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0644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860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Tòa nhà văn phòng thông minh (Smart Buildings)</a:t>
            </a:r>
            <a:endParaRPr lang="en-US" sz="1200" dirty="0"/>
          </a:p>
        </p:txBody>
      </p:sp>
      <p:sp>
        <p:nvSpPr>
          <p:cNvPr id="15" name="App 3"/>
          <p:cNvSpPr/>
          <p:nvPr/>
        </p:nvSpPr>
        <p:spPr>
          <a:xfrm>
            <a:off x="5669280" y="3063240"/>
            <a:ext cx="301752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6" name="Circle 3"/>
          <p:cNvSpPr/>
          <p:nvPr/>
        </p:nvSpPr>
        <p:spPr>
          <a:xfrm>
            <a:off x="5806440" y="319125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06440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06324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Trang trại điện mặt trời kết hợp lưu trữ BESS</a:t>
            </a:r>
            <a:endParaRPr lang="en-US" sz="1200" dirty="0"/>
          </a:p>
        </p:txBody>
      </p:sp>
      <p:sp>
        <p:nvSpPr>
          <p:cNvPr id="19" name="App 4"/>
          <p:cNvSpPr/>
          <p:nvPr/>
        </p:nvSpPr>
        <p:spPr>
          <a:xfrm>
            <a:off x="5669280" y="3840480"/>
            <a:ext cx="3017520" cy="658368"/>
          </a:xfrm>
          <a:prstGeom prst="roundRect">
            <a:avLst>
              <a:gd name="adj" fmla="val 13889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0" name="Circle 4"/>
          <p:cNvSpPr/>
          <p:nvPr/>
        </p:nvSpPr>
        <p:spPr>
          <a:xfrm>
            <a:off x="5806440" y="39684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0644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8404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Công ty năng lượng cần cân bằng tải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Vì sao chọn Học tăng cường (RL)?</a:t>
            </a:r>
            <a:endParaRPr lang="en-US" sz="2800" dirty="0"/>
          </a:p>
        </p:txBody>
      </p:sp>
      <p:sp>
        <p:nvSpPr>
          <p:cNvPr id="3" name="Pain 1"/>
          <p:cNvSpPr/>
          <p:nvPr/>
        </p:nvSpPr>
        <p:spPr>
          <a:xfrm>
            <a:off x="457200" y="114300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Circle 1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527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Biểu giá điện TOU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6479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Giá giờ cao điểm, bình thường, thấp điểm của EVN chênh lệch rất lớn; dùng nhiều điện lưới lúc cao điểm làm chi phí tăng đột biến.</a:t>
            </a:r>
            <a:endParaRPr lang="en-US" sz="1050" dirty="0"/>
          </a:p>
        </p:txBody>
      </p:sp>
      <p:sp>
        <p:nvSpPr>
          <p:cNvPr id="8" name="Pain 2"/>
          <p:cNvSpPr/>
          <p:nvPr/>
        </p:nvSpPr>
        <p:spPr>
          <a:xfrm>
            <a:off x="3154680" y="114300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9" name="Circle 2"/>
          <p:cNvSpPr/>
          <p:nvPr/>
        </p:nvSpPr>
        <p:spPr>
          <a:xfrm>
            <a:off x="3291840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25272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Năng lượng tái tạo bất định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76479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Bức xạ phụ thuộc thời tiết, mây che. Đỉnh PV vào 11h–13h lệch với đỉnh tải đầu sáng và chiều tối.</a:t>
            </a:r>
            <a:endParaRPr lang="en-US" sz="1050" dirty="0"/>
          </a:p>
        </p:txBody>
      </p:sp>
      <p:sp>
        <p:nvSpPr>
          <p:cNvPr id="13" name="Pain 3"/>
          <p:cNvSpPr/>
          <p:nvPr/>
        </p:nvSpPr>
        <p:spPr>
          <a:xfrm>
            <a:off x="457200" y="288036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4" name="Circle 3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9008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Rủi ro quá tải đỉnh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5021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Nhu cầu đột biến gây phí công suất đỉnh (Demand Charge) và nguy cơ quá tải trạm biến áp.</a:t>
            </a:r>
            <a:endParaRPr lang="en-US" sz="1050" dirty="0"/>
          </a:p>
        </p:txBody>
      </p:sp>
      <p:sp>
        <p:nvSpPr>
          <p:cNvPr id="18" name="Pain 4"/>
          <p:cNvSpPr/>
          <p:nvPr/>
        </p:nvSpPr>
        <p:spPr>
          <a:xfrm>
            <a:off x="3154680" y="2880360"/>
            <a:ext cx="256032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9" name="Circle 4"/>
          <p:cNvSpPr/>
          <p:nvPr/>
        </p:nvSpPr>
        <p:spPr>
          <a:xfrm>
            <a:off x="3291840" y="3017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918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299008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Giải pháp truyền thống hạn chế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5021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Rule-based quá cứng nhắc; Quy hoạch tuyến tính (LP) cần biết trước hoàn hảo tương lai – bất khả thi.</a:t>
            </a:r>
            <a:endParaRPr lang="en-US" sz="1050" dirty="0"/>
          </a:p>
        </p:txBody>
      </p:sp>
      <p:sp>
        <p:nvSpPr>
          <p:cNvPr id="23" name="Panel RL"/>
          <p:cNvSpPr/>
          <p:nvPr/>
        </p:nvSpPr>
        <p:spPr>
          <a:xfrm>
            <a:off x="5989320" y="1143000"/>
            <a:ext cx="2697480" cy="3337560"/>
          </a:xfrm>
          <a:prstGeom prst="roundRect">
            <a:avLst>
              <a:gd name="adj" fmla="val 339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1792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GIẢI PHÁP RL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164592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Học chính sách qua tương tác liên tục với môi trường mô phỏng.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Lập kế hoạch dài hạn: sạc pin lúc 2h sáng khi điện rẻ nhất để xả vào cao điểm 9h và 18h.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Tự thích ứng với biến động thời tiết và tải, không giả định môi trường tĩnh.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Bốn mục tiêu chính của dự án</a:t>
            </a:r>
            <a:endParaRPr lang="en-US" sz="2800" dirty="0"/>
          </a:p>
        </p:txBody>
      </p:sp>
      <p:sp>
        <p:nvSpPr>
          <p:cNvPr id="3" name="Goal 1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Circle 1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143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Tối ưu hóa chi phí điện năng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1430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Giảm tối đa chi phí mua điện lưới nhờ dịch chuyển phụ tải (Load Shifting) và cắt đỉnh phụ tải (Peak Shaving).</a:t>
            </a:r>
            <a:endParaRPr lang="en-US" sz="1150" dirty="0"/>
          </a:p>
        </p:txBody>
      </p:sp>
      <p:sp>
        <p:nvSpPr>
          <p:cNvPr id="8" name="Goal 2"/>
          <p:cNvSpPr/>
          <p:nvPr/>
        </p:nvSpPr>
        <p:spPr>
          <a:xfrm>
            <a:off x="457200" y="1993392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9" name="Circle 2"/>
          <p:cNvSpPr/>
          <p:nvPr/>
        </p:nvSpPr>
        <p:spPr>
          <a:xfrm>
            <a:off x="640080" y="213055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9933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Tối đa hóa tự tiêu thụ năng lượng xanh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9933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Tận dụng điện sạch tại chỗ, hạn chế phát ngược điện thừa lên lưới giá rẻ hoặc lãng phí công suất mặt trời.</a:t>
            </a:r>
            <a:endParaRPr lang="en-US" sz="1150" dirty="0"/>
          </a:p>
        </p:txBody>
      </p:sp>
      <p:sp>
        <p:nvSpPr>
          <p:cNvPr id="13" name="Goal 3"/>
          <p:cNvSpPr/>
          <p:nvPr/>
        </p:nvSpPr>
        <p:spPr>
          <a:xfrm>
            <a:off x="457200" y="2843784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4" name="Circle 3"/>
          <p:cNvSpPr/>
          <p:nvPr/>
        </p:nvSpPr>
        <p:spPr>
          <a:xfrm>
            <a:off x="640080" y="29809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84378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Bảo vệ tuổi thọ pin BESS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84378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Kiểm soát tốc độ sạc xả, tránh đổi chiều liên tục, giữ SoC trong dải an toàn 20% – 90%.</a:t>
            </a:r>
            <a:endParaRPr lang="en-US" sz="1150" dirty="0"/>
          </a:p>
        </p:txBody>
      </p:sp>
      <p:sp>
        <p:nvSpPr>
          <p:cNvPr id="18" name="Goal 4"/>
          <p:cNvSpPr/>
          <p:nvPr/>
        </p:nvSpPr>
        <p:spPr>
          <a:xfrm>
            <a:off x="457200" y="3694176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9" name="Circle 4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6941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Giải pháp phần mềm hoàn chỉnh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369417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Đóng gói thành phần mềm có API dịch vụ, Dashboard điều khiển và bộ lọc an toàn vật lý.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Công nghệ &amp; nền tảng sử dụng</a:t>
            </a:r>
            <a:endParaRPr lang="en-US" sz="2800" dirty="0"/>
          </a:p>
        </p:txBody>
      </p:sp>
      <p:sp>
        <p:nvSpPr>
          <p:cNvPr id="3" name="Algo SAC"/>
          <p:cNvSpPr/>
          <p:nvPr/>
        </p:nvSpPr>
        <p:spPr>
          <a:xfrm>
            <a:off x="457200" y="114300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THUẬT TOÁN LÕI CHÍNH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Soft Actor-Critic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Off-policy, tối đa hóa Entropy</a:t>
            </a:r>
            <a:endParaRPr lang="en-US" sz="1150" dirty="0"/>
          </a:p>
        </p:txBody>
      </p:sp>
      <p:sp>
        <p:nvSpPr>
          <p:cNvPr id="8" name="Algo TD3"/>
          <p:cNvSpPr/>
          <p:nvPr/>
        </p:nvSpPr>
        <p:spPr>
          <a:xfrm>
            <a:off x="3246120" y="114300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234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MÔ HÌNH SO SÁNH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Twin Delayed DDPG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Chống overestimation bias</a:t>
            </a:r>
            <a:endParaRPr lang="en-US" sz="1150" dirty="0"/>
          </a:p>
        </p:txBody>
      </p:sp>
      <p:sp>
        <p:nvSpPr>
          <p:cNvPr id="13" name="Algo PPO"/>
          <p:cNvSpPr/>
          <p:nvPr/>
        </p:nvSpPr>
        <p:spPr>
          <a:xfrm>
            <a:off x="6035040" y="114300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1234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MÔ HÌNH SO SÁNH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Proximal Policy Optimization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On-policy chuẩn mực</a:t>
            </a:r>
            <a:endParaRPr lang="en-US" sz="1150" dirty="0"/>
          </a:p>
        </p:txBody>
      </p:sp>
      <p:sp>
        <p:nvSpPr>
          <p:cNvPr id="18" name="Stack 1"/>
          <p:cNvSpPr/>
          <p:nvPr/>
        </p:nvSpPr>
        <p:spPr>
          <a:xfrm>
            <a:off x="457200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" y="3035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Thư viện &amp; Framework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74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Python 3.10+, Gymnasium, PyTorch, Stable-Baselines3</a:t>
            </a:r>
            <a:endParaRPr lang="en-US" sz="1150" dirty="0"/>
          </a:p>
        </p:txBody>
      </p:sp>
      <p:sp>
        <p:nvSpPr>
          <p:cNvPr id="21" name="Stack 2"/>
          <p:cNvSpPr/>
          <p:nvPr/>
        </p:nvSpPr>
        <p:spPr>
          <a:xfrm>
            <a:off x="3246120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429000" y="3035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Tập dữ liệu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474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Pecan Street Project / CityLearn / NREL (tải &amp; bức xạ thực) + biểu giá TOU của EVN</a:t>
            </a:r>
            <a:endParaRPr lang="en-US" sz="1150" dirty="0"/>
          </a:p>
        </p:txBody>
      </p:sp>
      <p:sp>
        <p:nvSpPr>
          <p:cNvPr id="24" name="Stack 3"/>
          <p:cNvSpPr/>
          <p:nvPr/>
        </p:nvSpPr>
        <p:spPr>
          <a:xfrm>
            <a:off x="6035040" y="2926080"/>
            <a:ext cx="2651760" cy="160020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217920" y="3035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Nền tảng ứng dụng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4747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FastAPI (REST API inference thời gian thực) + Streamlit / ReactJS (Dashboard)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 phân hệ tính năng của SEMS-RL</a:t>
            </a:r>
            <a:endParaRPr lang="en-US" sz="2800" dirty="0"/>
          </a:p>
        </p:txBody>
      </p:sp>
      <p:sp>
        <p:nvSpPr>
          <p:cNvPr id="3" name="Feature 1"/>
          <p:cNvSpPr/>
          <p:nvPr/>
        </p:nvSpPr>
        <p:spPr>
          <a:xfrm>
            <a:off x="457200" y="1143000"/>
            <a:ext cx="2651760" cy="1627632"/>
          </a:xfrm>
          <a:prstGeom prst="roundRect">
            <a:avLst>
              <a:gd name="adj" fmla="val 56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Circle 1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Môi trường Năng lượng Số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087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Energy Digital Twin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28800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Mô phỏng BESS (kWh, hiệu suất, tổn thất nhiệt, suy thoái), PV, giá TOU và phụ tải theo bước 15 phút.</a:t>
            </a:r>
            <a:endParaRPr lang="en-US" sz="1050" dirty="0"/>
          </a:p>
        </p:txBody>
      </p:sp>
      <p:sp>
        <p:nvSpPr>
          <p:cNvPr id="9" name="Feature 2"/>
          <p:cNvSpPr/>
          <p:nvPr/>
        </p:nvSpPr>
        <p:spPr>
          <a:xfrm>
            <a:off x="3246120" y="1143000"/>
            <a:ext cx="2651760" cy="1627632"/>
          </a:xfrm>
          <a:prstGeom prst="roundRect">
            <a:avLst>
              <a:gd name="adj" fmla="val 5618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0" name="Circle 2"/>
          <p:cNvSpPr/>
          <p:nvPr/>
        </p:nvSpPr>
        <p:spPr>
          <a:xfrm>
            <a:off x="3383280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1234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Bộ điều khiển RL Tự động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15087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Autonomous RL Controller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828800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Mô hình SAC/TD3 quyết định công suất sạc/xả tối ưu theo thời gian thực.</a:t>
            </a:r>
            <a:endParaRPr lang="en-US" sz="1050" dirty="0"/>
          </a:p>
        </p:txBody>
      </p:sp>
      <p:sp>
        <p:nvSpPr>
          <p:cNvPr id="15" name="Feature 3"/>
          <p:cNvSpPr/>
          <p:nvPr/>
        </p:nvSpPr>
        <p:spPr>
          <a:xfrm>
            <a:off x="6035040" y="1143000"/>
            <a:ext cx="2651760" cy="1627632"/>
          </a:xfrm>
          <a:prstGeom prst="roundRect">
            <a:avLst>
              <a:gd name="adj" fmla="val 56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6" name="Circle 3"/>
          <p:cNvSpPr/>
          <p:nvPr/>
        </p:nvSpPr>
        <p:spPr>
          <a:xfrm>
            <a:off x="6172200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234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Module Đối chuẩn Hiệu năng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5087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Benchmarking Engine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828800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So sánh RL với Rule-based, không có pin và Quy hoạch tuyến tính lý tưởng (LP).</a:t>
            </a:r>
            <a:endParaRPr lang="en-US" sz="1050" dirty="0"/>
          </a:p>
        </p:txBody>
      </p:sp>
      <p:sp>
        <p:nvSpPr>
          <p:cNvPr id="21" name="Feature 4"/>
          <p:cNvSpPr/>
          <p:nvPr/>
        </p:nvSpPr>
        <p:spPr>
          <a:xfrm>
            <a:off x="457200" y="2880360"/>
            <a:ext cx="2651760" cy="1627632"/>
          </a:xfrm>
          <a:prstGeom prst="roundRect">
            <a:avLst>
              <a:gd name="adj" fmla="val 5618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2" name="Circle 4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Bảng điều khiển Giám sát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246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Real-time Dashboard UI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566160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Trực quan dòng PV → Pin → Tải/Lưới, % SoC, đồ thị Peak Shaving, tiền tiết kiệm lũy kế.</a:t>
            </a:r>
            <a:endParaRPr lang="en-US" sz="1050" dirty="0"/>
          </a:p>
        </p:txBody>
      </p:sp>
      <p:sp>
        <p:nvSpPr>
          <p:cNvPr id="27" name="Feature 5"/>
          <p:cNvSpPr/>
          <p:nvPr/>
        </p:nvSpPr>
        <p:spPr>
          <a:xfrm>
            <a:off x="3246120" y="2880360"/>
            <a:ext cx="2651760" cy="1627632"/>
          </a:xfrm>
          <a:prstGeom prst="roundRect">
            <a:avLst>
              <a:gd name="adj" fmla="val 56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8" name="Circle 5"/>
          <p:cNvSpPr/>
          <p:nvPr/>
        </p:nvSpPr>
        <p:spPr>
          <a:xfrm>
            <a:off x="3383280" y="3017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3832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Bộ lọc An toàn Phần cứng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840480" y="3246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Safety Guardrails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3566160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Chặn hành động vượt công suất định mức; tự ngắt khi pin chạm 20% hoặc 90%.</a:t>
            </a:r>
            <a:endParaRPr lang="en-US" sz="1050" dirty="0"/>
          </a:p>
        </p:txBody>
      </p:sp>
      <p:sp>
        <p:nvSpPr>
          <p:cNvPr id="33" name="Feature 6"/>
          <p:cNvSpPr/>
          <p:nvPr/>
        </p:nvSpPr>
        <p:spPr>
          <a:xfrm>
            <a:off x="6035040" y="2880360"/>
            <a:ext cx="2651760" cy="1627632"/>
          </a:xfrm>
          <a:prstGeom prst="roundRect">
            <a:avLst>
              <a:gd name="adj" fmla="val 5618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34" name="Circle 6"/>
          <p:cNvSpPr/>
          <p:nvPr/>
        </p:nvSpPr>
        <p:spPr>
          <a:xfrm>
            <a:off x="6172200" y="3017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72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2971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Chế độ Can thiệp Thủ công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3246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Manual Override Mode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3566160"/>
            <a:ext cx="2395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Kỹ sư chuyển giữa điều khiển RL tự động và thủ công khi bảo trì hoặc khẩn cấp.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Kiến trúc hệ thống &amp; đối chuẩn hiệu năng</a:t>
            </a:r>
            <a:endParaRPr lang="en-US" sz="2800" dirty="0"/>
          </a:p>
        </p:txBody>
      </p:sp>
      <p:sp>
        <p:nvSpPr>
          <p:cNvPr id="3" name="Flow 1"/>
          <p:cNvSpPr/>
          <p:nvPr/>
        </p:nvSpPr>
        <p:spPr>
          <a:xfrm>
            <a:off x="457200" y="1143000"/>
            <a:ext cx="146304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207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Dữ liệu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PV, phụ tải, giá TOU EVN (Pecan Street, CityLearn, NREL)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5544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Flow 2"/>
          <p:cNvSpPr/>
          <p:nvPr/>
        </p:nvSpPr>
        <p:spPr>
          <a:xfrm>
            <a:off x="2148840" y="1143000"/>
            <a:ext cx="146304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240280" y="1207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Môi trường Gym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600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MicrogridBessEnv, bước 15 phút, mô hình pin BESS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5544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Flow 3"/>
          <p:cNvSpPr/>
          <p:nvPr/>
        </p:nvSpPr>
        <p:spPr>
          <a:xfrm>
            <a:off x="3840480" y="1143000"/>
            <a:ext cx="1463040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931920" y="1207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RL Agent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600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SAC / TD3 / PPO xuất hành động a ∈ [−1, 1]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5544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Flow 4"/>
          <p:cNvSpPr/>
          <p:nvPr/>
        </p:nvSpPr>
        <p:spPr>
          <a:xfrm>
            <a:off x="5532120" y="1143000"/>
            <a:ext cx="146304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23560" y="1207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Safety Guardrails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1600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Chặn vượt công suất, ngắt khi SoC chạm 20% / 90%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5544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Flow 5"/>
          <p:cNvSpPr/>
          <p:nvPr/>
        </p:nvSpPr>
        <p:spPr>
          <a:xfrm>
            <a:off x="7223760" y="1143000"/>
            <a:ext cx="146304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15200" y="1207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API &amp; Dashboard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600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FastAPI inference, Streamlit giám sát, Manual Override</a:t>
            </a:r>
            <a:endParaRPr lang="en-US" sz="950" dirty="0"/>
          </a:p>
        </p:txBody>
      </p:sp>
      <p:sp>
        <p:nvSpPr>
          <p:cNvPr id="22" name="Card đối chuẩn"/>
          <p:cNvSpPr/>
          <p:nvPr/>
        </p:nvSpPr>
        <p:spPr>
          <a:xfrm>
            <a:off x="457200" y="2651760"/>
            <a:ext cx="4023360" cy="1874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6"/>
                </a:solidFill>
              </a:rPr>
              <a:t>SO SÁNH VỚI 4 PHƯƠNG PHÁP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RL Agent (SAC, TD3, PPO)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Rule-based Heuristic: luật cố định theo giờ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Không có pin lưu trữ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Quy hoạch tuyến tính lý tưởng (LP)</a:t>
            </a:r>
            <a:endParaRPr lang="en-US" sz="1200" dirty="0"/>
          </a:p>
        </p:txBody>
      </p:sp>
      <p:sp>
        <p:nvSpPr>
          <p:cNvPr id="25" name="Card chỉ số"/>
          <p:cNvSpPr/>
          <p:nvPr/>
        </p:nvSpPr>
        <p:spPr>
          <a:xfrm>
            <a:off x="4663440" y="2651760"/>
            <a:ext cx="4023360" cy="1874520"/>
          </a:xfrm>
          <a:prstGeom prst="roundRect">
            <a:avLst>
              <a:gd name="adj" fmla="val 4878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463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CHỈ SỐ ĐÁNH GIÁ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% chi phí tiền điện tiết kiệm được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% cắt giảm phụ tải đỉnh (Peak Shaving Ratio)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Tỷ lệ tự tiêu thụ năng lượng xanh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Mức hao mòn pin và số lần vi phạm giới hạn SoC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Mô hình hóa thành Quy trình quyết định Markov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⟨ S, A, P, R, γ ⟩</a:t>
            </a:r>
            <a:endParaRPr lang="en-US" sz="2800" dirty="0"/>
          </a:p>
        </p:txBody>
      </p:sp>
      <p:sp>
        <p:nvSpPr>
          <p:cNvPr id="4" name="MDP S"/>
          <p:cNvSpPr/>
          <p:nvPr/>
        </p:nvSpPr>
        <p:spPr>
          <a:xfrm>
            <a:off x="457200" y="1828800"/>
            <a:ext cx="1554480" cy="169164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5" name="Circle S"/>
          <p:cNvSpPr/>
          <p:nvPr/>
        </p:nvSpPr>
        <p:spPr>
          <a:xfrm>
            <a:off x="914400" y="1938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Trạng thái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9260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SoC, tải, PV, giá điện, giờ, ngày</a:t>
            </a:r>
            <a:endParaRPr lang="en-US" sz="1000" dirty="0"/>
          </a:p>
        </p:txBody>
      </p:sp>
      <p:sp>
        <p:nvSpPr>
          <p:cNvPr id="9" name="MDP A"/>
          <p:cNvSpPr/>
          <p:nvPr/>
        </p:nvSpPr>
        <p:spPr>
          <a:xfrm>
            <a:off x="2121408" y="1828800"/>
            <a:ext cx="1554480" cy="1691640"/>
          </a:xfrm>
          <a:prstGeom prst="roundRect">
            <a:avLst>
              <a:gd name="adj" fmla="val 5882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0" name="Circle A"/>
          <p:cNvSpPr/>
          <p:nvPr/>
        </p:nvSpPr>
        <p:spPr>
          <a:xfrm>
            <a:off x="2578608" y="1938528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78608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Hành động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29260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Công suất sạc/xả liên tục a ∈ [−1, 1]</a:t>
            </a:r>
            <a:endParaRPr lang="en-US" sz="1000" dirty="0"/>
          </a:p>
        </p:txBody>
      </p:sp>
      <p:sp>
        <p:nvSpPr>
          <p:cNvPr id="14" name="MDP P"/>
          <p:cNvSpPr/>
          <p:nvPr/>
        </p:nvSpPr>
        <p:spPr>
          <a:xfrm>
            <a:off x="3785616" y="1828800"/>
            <a:ext cx="1554480" cy="169164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5" name="Circle P"/>
          <p:cNvSpPr/>
          <p:nvPr/>
        </p:nvSpPr>
        <p:spPr>
          <a:xfrm>
            <a:off x="4242816" y="1938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42816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3877056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Chuyển trạng thái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95344" y="29260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Cân bằng công suất &amp; cập nhật SoC</a:t>
            </a:r>
            <a:endParaRPr lang="en-US" sz="1000" dirty="0"/>
          </a:p>
        </p:txBody>
      </p:sp>
      <p:sp>
        <p:nvSpPr>
          <p:cNvPr id="19" name="MDP R"/>
          <p:cNvSpPr/>
          <p:nvPr/>
        </p:nvSpPr>
        <p:spPr>
          <a:xfrm>
            <a:off x="5449824" y="1828800"/>
            <a:ext cx="1554480" cy="1691640"/>
          </a:xfrm>
          <a:prstGeom prst="roundRect">
            <a:avLst>
              <a:gd name="adj" fmla="val 5882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0" name="Circle R"/>
          <p:cNvSpPr/>
          <p:nvPr/>
        </p:nvSpPr>
        <p:spPr>
          <a:xfrm>
            <a:off x="5907024" y="1938528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07024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R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Phần thưởng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59552" y="29260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Hàm phạt chi phí đa mục tiêu</a:t>
            </a:r>
            <a:endParaRPr lang="en-US" sz="1000" dirty="0"/>
          </a:p>
        </p:txBody>
      </p:sp>
      <p:sp>
        <p:nvSpPr>
          <p:cNvPr id="24" name="MDP γ"/>
          <p:cNvSpPr/>
          <p:nvPr/>
        </p:nvSpPr>
        <p:spPr>
          <a:xfrm>
            <a:off x="7114032" y="1828800"/>
            <a:ext cx="1554480" cy="169164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5" name="Circle γ"/>
          <p:cNvSpPr/>
          <p:nvPr/>
        </p:nvSpPr>
        <p:spPr>
          <a:xfrm>
            <a:off x="7571232" y="1938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71232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γ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Chiết khấu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926080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γ = 0.99, tầm nhìn dài hạn</a:t>
            </a:r>
            <a:endParaRPr lang="en-US" sz="1000" dirty="0"/>
          </a:p>
        </p:txBody>
      </p:sp>
      <p:sp>
        <p:nvSpPr>
          <p:cNvPr id="29" name="Stat 1"/>
          <p:cNvSpPr/>
          <p:nvPr/>
        </p:nvSpPr>
        <p:spPr>
          <a:xfrm>
            <a:off x="457200" y="3749040"/>
            <a:ext cx="402336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3749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Δt = 15 phút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256032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Mỗi bước thời gian (0.25 giờ)</a:t>
            </a:r>
            <a:endParaRPr lang="en-US" sz="1150" dirty="0"/>
          </a:p>
        </p:txBody>
      </p:sp>
      <p:sp>
        <p:nvSpPr>
          <p:cNvPr id="32" name="Stat 2"/>
          <p:cNvSpPr/>
          <p:nvPr/>
        </p:nvSpPr>
        <p:spPr>
          <a:xfrm>
            <a:off x="4663440" y="3749040"/>
            <a:ext cx="402336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46320" y="3749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96 bước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Một chu kỳ vận hành 24 giờ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Không gian trạng thái &amp; hành động</a:t>
            </a:r>
            <a:endParaRPr lang="en-US" sz="2800" dirty="0"/>
          </a:p>
        </p:txBody>
      </p:sp>
      <p:sp>
        <p:nvSpPr>
          <p:cNvPr id="3" name="Card State"/>
          <p:cNvSpPr/>
          <p:nvPr/>
        </p:nvSpPr>
        <p:spPr>
          <a:xfrm>
            <a:off x="457200" y="1143000"/>
            <a:ext cx="484632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STATE  s_t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361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SoC, P_load, P_pv, C_grid, sin(2πh/24), cos(2πh/24), d ]ᵀ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SoC ∈ [0, 1]: mức dung lượng pin (0 = cạn, 1 = đầy).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P_load ≥ 0 (kW): công suất tải tòa nhà/nhà máy.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P_pv ≥ 0 (kW): công suất điện mặt trời tức thời.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C_grid &gt; 0 (VNĐ/kWh): giá điện theo biểu giá TOU của EVN.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sin/cos của giờ: mã hóa tuần hoàn, liên tục giữa 23h và 0h.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 ∈ {0, 1}: ngày làm việc (1) hoặc cuối tuần (0).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143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6"/>
                </a:solidFill>
              </a:rPr>
              <a:t>ACTION  a_t ∈ [−1, 1]</a:t>
            </a:r>
            <a:endParaRPr lang="en-US" sz="1200" dirty="0"/>
          </a:p>
        </p:txBody>
      </p:sp>
      <p:sp>
        <p:nvSpPr>
          <p:cNvPr id="8" name="Action 1"/>
          <p:cNvSpPr/>
          <p:nvPr/>
        </p:nvSpPr>
        <p:spPr>
          <a:xfrm>
            <a:off x="5577840" y="1508760"/>
            <a:ext cx="3108960" cy="896112"/>
          </a:xfrm>
          <a:prstGeom prst="roundRect">
            <a:avLst>
              <a:gd name="adj" fmla="val 1020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715000" y="1508760"/>
            <a:ext cx="868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&gt; 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50876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SẠC (Charging)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P_batt = a · P_charge_max</a:t>
            </a:r>
            <a:endParaRPr lang="en-US" sz="1200" dirty="0"/>
          </a:p>
        </p:txBody>
      </p:sp>
      <p:sp>
        <p:nvSpPr>
          <p:cNvPr id="11" name="Action 2"/>
          <p:cNvSpPr/>
          <p:nvPr/>
        </p:nvSpPr>
        <p:spPr>
          <a:xfrm>
            <a:off x="5577840" y="2514600"/>
            <a:ext cx="3108960" cy="896112"/>
          </a:xfrm>
          <a:prstGeom prst="roundRect">
            <a:avLst>
              <a:gd name="adj" fmla="val 10204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715000" y="2514600"/>
            <a:ext cx="868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0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51460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NGHỈ (Idle)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P_batt = 0</a:t>
            </a:r>
            <a:endParaRPr lang="en-US" sz="1200" dirty="0"/>
          </a:p>
        </p:txBody>
      </p:sp>
      <p:sp>
        <p:nvSpPr>
          <p:cNvPr id="14" name="Action 3"/>
          <p:cNvSpPr/>
          <p:nvPr/>
        </p:nvSpPr>
        <p:spPr>
          <a:xfrm>
            <a:off x="5577840" y="3520440"/>
            <a:ext cx="3108960" cy="896112"/>
          </a:xfrm>
          <a:prstGeom prst="roundRect">
            <a:avLst>
              <a:gd name="adj" fmla="val 1020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715000" y="3520440"/>
            <a:ext cx="868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&lt; 0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52044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XẢ (Discharging)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P_batt = |a| · (−P_discharge_max)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Động lực học chuyển trạng thái (P)</a:t>
            </a:r>
            <a:endParaRPr lang="en-US" sz="2800" dirty="0"/>
          </a:p>
        </p:txBody>
      </p:sp>
      <p:sp>
        <p:nvSpPr>
          <p:cNvPr id="3" name="Card cân bằng công suất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6"/>
                </a:solidFill>
              </a:rPr>
              <a:t>CÂN BẰNG CÔNG SUẤT TẠI ĐIỂM HÒA LƯỚI</a:t>
            </a:r>
            <a:endParaRPr lang="en-US" sz="1050" dirty="0"/>
          </a:p>
        </p:txBody>
      </p:sp>
      <p:sp>
        <p:nvSpPr>
          <p:cNvPr id="5" name="Formula grid"/>
          <p:cNvSpPr/>
          <p:nvPr/>
        </p:nvSpPr>
        <p:spPr>
          <a:xfrm>
            <a:off x="640080" y="1600200"/>
            <a:ext cx="3657600" cy="594360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P_grid = P_load − P_pv + P_batt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P_grid &gt; 0: thiếu điện, phải mua từ lưới quốc gia (P_grid,buy = P_grid).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P_grid &lt; 0: dư điện mặt trời, bán ngược lên lưới (P_grid,sell = |P_grid|).</a:t>
            </a:r>
            <a:endParaRPr lang="en-US" sz="1200" dirty="0"/>
          </a:p>
        </p:txBody>
      </p:sp>
      <p:sp>
        <p:nvSpPr>
          <p:cNvPr id="8" name="Card SoC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6"/>
                </a:solidFill>
              </a:rPr>
              <a:t>CẬP NHẬT TRẠNG THÁI PIN (SoC)</a:t>
            </a:r>
            <a:endParaRPr lang="en-US" sz="1050" dirty="0"/>
          </a:p>
        </p:txBody>
      </p:sp>
      <p:sp>
        <p:nvSpPr>
          <p:cNvPr id="10" name="Formula SoC"/>
          <p:cNvSpPr/>
          <p:nvPr/>
        </p:nvSpPr>
        <p:spPr>
          <a:xfrm>
            <a:off x="4846320" y="1600200"/>
            <a:ext cx="3657600" cy="594360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600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SoC(t+1) = SoC(t) + ΔSoC(t)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4231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Khi sạc (P_batt &gt; 0)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ΔSoC = η_charge · P_batt · Δt / E_capacity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Khi xả (P_batt &lt; 0)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ΔSoC = P_batt · Δt / (η_discharge · E_capacity)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η_charge ≈ η_discharge ≈ 0.92; E_capacity là dung lượng danh định (kWh).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Hàm phần thưởng đa mục tiêu (R)</a:t>
            </a:r>
            <a:endParaRPr lang="en-US" sz="2800" dirty="0"/>
          </a:p>
        </p:txBody>
      </p:sp>
      <p:sp>
        <p:nvSpPr>
          <p:cNvPr id="3" name="Reward formula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r(t) = − [ C_elec + w1·C_degr + w2·C_peak + w3·P_viol ]</a:t>
            </a:r>
            <a:endParaRPr lang="en-US" sz="2100" dirty="0"/>
          </a:p>
        </p:txBody>
      </p:sp>
      <p:sp>
        <p:nvSpPr>
          <p:cNvPr id="5" name="Reward 1"/>
          <p:cNvSpPr/>
          <p:nvPr/>
        </p:nvSpPr>
        <p:spPr>
          <a:xfrm>
            <a:off x="457200" y="2057400"/>
            <a:ext cx="1965960" cy="246888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6" name="Circle 1"/>
          <p:cNvSpPr/>
          <p:nvPr/>
        </p:nvSpPr>
        <p:spPr>
          <a:xfrm>
            <a:off x="594360" y="21945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Chi phí điện lưới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(C_grid·P_buy − C_feedin·P_sell)·Δt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3832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Sạc lúc giá thấp hoặc thừa PV, xả lúc giá cao để giảm hóa đơn.</a:t>
            </a:r>
            <a:endParaRPr lang="en-US" sz="1050" dirty="0"/>
          </a:p>
        </p:txBody>
      </p:sp>
      <p:sp>
        <p:nvSpPr>
          <p:cNvPr id="11" name="Reward 2"/>
          <p:cNvSpPr/>
          <p:nvPr/>
        </p:nvSpPr>
        <p:spPr>
          <a:xfrm>
            <a:off x="2537460" y="2057400"/>
            <a:ext cx="1965960" cy="2468880"/>
          </a:xfrm>
          <a:prstGeom prst="roundRect">
            <a:avLst>
              <a:gd name="adj" fmla="val 4651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2" name="Circle 2"/>
          <p:cNvSpPr/>
          <p:nvPr/>
        </p:nvSpPr>
        <p:spPr>
          <a:xfrm>
            <a:off x="2674620" y="21945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746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3182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Suy thoái pin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67462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c_wear · |P_batt| · Δt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674620" y="33832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Phạt hao mòn, hạn chế đổi chiều sạc/xả liên tục.</a:t>
            </a:r>
            <a:endParaRPr lang="en-US" sz="1050" dirty="0"/>
          </a:p>
        </p:txBody>
      </p:sp>
      <p:sp>
        <p:nvSpPr>
          <p:cNvPr id="17" name="Reward 3"/>
          <p:cNvSpPr/>
          <p:nvPr/>
        </p:nvSpPr>
        <p:spPr>
          <a:xfrm>
            <a:off x="4617720" y="2057400"/>
            <a:ext cx="1965960" cy="246888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8" name="Circle 3"/>
          <p:cNvSpPr/>
          <p:nvPr/>
        </p:nvSpPr>
        <p:spPr>
          <a:xfrm>
            <a:off x="4754880" y="21945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48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Phạt công suất đỉnh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max(0, P_buy − P_thr)²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3832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Phạt bậc hai khi lấy điện lưới vượt trần (Peak Shaving).</a:t>
            </a:r>
            <a:endParaRPr lang="en-US" sz="1050" dirty="0"/>
          </a:p>
        </p:txBody>
      </p:sp>
      <p:sp>
        <p:nvSpPr>
          <p:cNvPr id="23" name="Reward 4"/>
          <p:cNvSpPr/>
          <p:nvPr/>
        </p:nvSpPr>
        <p:spPr>
          <a:xfrm>
            <a:off x="6697980" y="2057400"/>
            <a:ext cx="1965960" cy="2468880"/>
          </a:xfrm>
          <a:prstGeom prst="roundRect">
            <a:avLst>
              <a:gd name="adj" fmla="val 4651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4" name="Circle 4"/>
          <p:cNvSpPr/>
          <p:nvPr/>
        </p:nvSpPr>
        <p:spPr>
          <a:xfrm>
            <a:off x="6835140" y="21945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351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92340" y="2148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Vi phạm an toàn pin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3514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(SoC_min − SoC)² hoặc (SoC − SoC_max)²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35140" y="33832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Phạt nặng khi SoC ra ngoài dải [20%, 90%].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Kế hoạch thực hiện &amp; kỳ vọng</a:t>
            </a:r>
            <a:endParaRPr lang="en-US" sz="2800" dirty="0"/>
          </a:p>
        </p:txBody>
      </p:sp>
      <p:sp>
        <p:nvSpPr>
          <p:cNvPr id="3" name="Plan 1"/>
          <p:cNvSpPr/>
          <p:nvPr/>
        </p:nvSpPr>
        <p:spPr>
          <a:xfrm>
            <a:off x="457200" y="1143000"/>
            <a:ext cx="50292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4" name="Plan tag 1"/>
          <p:cNvSpPr/>
          <p:nvPr/>
        </p:nvSpPr>
        <p:spPr>
          <a:xfrm>
            <a:off x="594360" y="1298448"/>
            <a:ext cx="96012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Buổi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14300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Báo cáo slide (10 slide) bảo vệ 4 nội dung đánh giá trước giảng viên – Sáng thứ 7, 03/10/2026.</a:t>
            </a:r>
            <a:endParaRPr lang="en-US" sz="1100" dirty="0"/>
          </a:p>
        </p:txBody>
      </p:sp>
      <p:sp>
        <p:nvSpPr>
          <p:cNvPr id="7" name="Plan 2"/>
          <p:cNvSpPr/>
          <p:nvPr/>
        </p:nvSpPr>
        <p:spPr>
          <a:xfrm>
            <a:off x="457200" y="1993392"/>
            <a:ext cx="502920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8" name="Plan tag 2"/>
          <p:cNvSpPr/>
          <p:nvPr/>
        </p:nvSpPr>
        <p:spPr>
          <a:xfrm>
            <a:off x="594360" y="2148840"/>
            <a:ext cx="960120" cy="42062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1488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Buổi 2 &amp; 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99339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Hoàn thiện môi trường Gym và kiểm thử dữ liệu chuỗi thời gian (Huỳnh &amp; Sơn).</a:t>
            </a:r>
            <a:endParaRPr lang="en-US" sz="1100" dirty="0"/>
          </a:p>
        </p:txBody>
      </p:sp>
      <p:sp>
        <p:nvSpPr>
          <p:cNvPr id="11" name="Plan 3"/>
          <p:cNvSpPr/>
          <p:nvPr/>
        </p:nvSpPr>
        <p:spPr>
          <a:xfrm>
            <a:off x="457200" y="2843784"/>
            <a:ext cx="50292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2" name="Plan tag 3"/>
          <p:cNvSpPr/>
          <p:nvPr/>
        </p:nvSpPr>
        <p:spPr>
          <a:xfrm>
            <a:off x="594360" y="2999232"/>
            <a:ext cx="960120" cy="4206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99923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Buổi 4 &amp; 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84378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Huấn luyện SAC (Trường), TD3 &amp; Rule-based (Quang Anh), PPO &amp; Benchmark (Dương).</a:t>
            </a:r>
            <a:endParaRPr lang="en-US" sz="1100" dirty="0"/>
          </a:p>
        </p:txBody>
      </p:sp>
      <p:sp>
        <p:nvSpPr>
          <p:cNvPr id="15" name="Plan 4"/>
          <p:cNvSpPr/>
          <p:nvPr/>
        </p:nvSpPr>
        <p:spPr>
          <a:xfrm>
            <a:off x="457200" y="3694176"/>
            <a:ext cx="502920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16" name="Plan tag 4"/>
          <p:cNvSpPr/>
          <p:nvPr/>
        </p:nvSpPr>
        <p:spPr>
          <a:xfrm>
            <a:off x="594360" y="3849624"/>
            <a:ext cx="960120" cy="42062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84962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Buổi 6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69417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Tích hợp vào Dashboard Streamlit, nghiệm thu và bảo vệ đồ án.</a:t>
            </a:r>
            <a:endParaRPr lang="en-US" sz="1100" dirty="0"/>
          </a:p>
        </p:txBody>
      </p:sp>
      <p:sp>
        <p:nvSpPr>
          <p:cNvPr id="19" name="Panel kỳ vọng"/>
          <p:cNvSpPr/>
          <p:nvPr/>
        </p:nvSpPr>
        <p:spPr>
          <a:xfrm>
            <a:off x="5760720" y="1143000"/>
            <a:ext cx="2926080" cy="3383280"/>
          </a:xfrm>
          <a:prstGeom prst="roundRect">
            <a:avLst>
              <a:gd name="adj" fmla="val 312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7A2E1D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8932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KỲ VỌNG ĐẠT ĐƯỢC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1691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giảm chi phí tiền điện hàng tháng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3017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giảm công suất đỉnh giờ cao điểm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S Warm">
  <a:themeElements>
    <a:clrScheme name="SEMS Warm">
      <a:dk1>
        <a:srgbClr val="3B1F14"/>
      </a:dk1>
      <a:lt1>
        <a:srgbClr val="FFFFFF"/>
      </a:lt1>
      <a:dk2>
        <a:srgbClr val="7A2E1D"/>
      </a:dk2>
      <a:lt2>
        <a:srgbClr val="FFF6EC"/>
      </a:lt2>
      <a:accent1>
        <a:srgbClr val="C8553D"/>
      </a:accent1>
      <a:accent2>
        <a:srgbClr val="F2A541"/>
      </a:accent2>
      <a:accent3>
        <a:srgbClr val="E07A3F"/>
      </a:accent3>
      <a:accent4>
        <a:srgbClr val="8C3B2A"/>
      </a:accent4>
      <a:accent5>
        <a:srgbClr val="F6D6A8"/>
      </a:accent5>
      <a:accent6>
        <a:srgbClr val="B5651D"/>
      </a:accent6>
      <a:hlink>
        <a:srgbClr val="C8553D"/>
      </a:hlink>
      <a:folHlink>
        <a:srgbClr val="8C3B2A"/>
      </a:folHlink>
    </a:clrScheme>
    <a:fontScheme name="SEMS War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SEMS-RL - Nhóm 7</dc:title>
  <dc:subject>PptxGenJS Presentation</dc:subject>
  <dc:creator>Nhóm 7 - 65KTPM</dc:creator>
  <cp:lastModifiedBy>Nhóm 7 - 65KTPM</cp:lastModifiedBy>
  <cp:revision>1</cp:revision>
  <dcterms:created xsi:type="dcterms:W3CDTF">2026-10-02T15:42:12Z</dcterms:created>
  <dcterms:modified xsi:type="dcterms:W3CDTF">2026-10-02T15:42:12Z</dcterms:modified>
</cp:coreProperties>
</file>
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dd2968f4-4016-5d5e-5c03-7420a8f45706}">
          <p14:sldIdLst>
            <p14:sldId id="256"/>
          </p14:sldIdLst>
        </p14:section>
        <p14:section name="Mô hình MDP" id="{95591ee8-b8f5-cae1-a860-344258e33a46}">
          <p14:sldIdLst>
            <p14:sldId id="257"/>
          </p14:sldIdLst>
        </p14:section>
        <p14:section name="Default-1" id="{6c863722-caca-3b54-f552-0b895ba60fe1}">
          <p14:sldIdLst>
            <p14:sldId id="258"/>
            <p14:sldId id="259"/>
            <p14:sldId id="260"/>
            <p14:sldId id="261"/>
          </p14:sldIdLst>
        </p14:section>
        <p14:section name="Phần thưởng và giá trị" id="{24725fda-58b8-8a36-69d9-6a37fa69d4bc}">
          <p14:sldIdLst>
            <p14:sldId id="262"/>
            <p14:sldId id="263"/>
          </p14:sldIdLst>
        </p14:section>
        <p14:section name="Default-2" id="{5de22ef8-387d-4f23-f98c-70193faf0b0a}">
          <p14:sldIdLst>
            <p14:sldId id="264"/>
          </p14:sldIdLst>
        </p14:section>
        <p14:section name="Môi trường thử nghiệm" id="{c044e100-d8c2-6404-db66-4a043268cbbf}">
          <p14:sldIdLst>
            <p14:sldId id="265"/>
          </p14:sldIdLst>
        </p14:section>
        <p14:section name="Default-3" id="{3e77a160-b642-a327-8141-153f65c4318c}">
          <p14:sldIdLst>
            <p14:sldId id="266"/>
            <p14:sldId id="267"/>
          </p14:sldIdLst>
        </p14:section>
        <p14:section name="Thuật toán" id="{6f1b2323-8e81-eed8-62ad-f90fd7d99d1c}">
          <p14:sldIdLst>
            <p14:sldId id="268"/>
          </p14:sldIdLst>
        </p14:section>
        <p14:section name="Default-4" id="{60294e42-26d6-1e65-99de-f054d14f0673}">
          <p14:sldIdLst>
            <p14:sldId id="269"/>
            <p14:sldId id="270"/>
            <p14:sldId id="271"/>
            <p14:sldId id="272"/>
            <p14:sldId id="273"/>
          </p14:sldIdLst>
        </p14:section>
        <p14:section name="Tiến độ" id="{ed72ebc7-8cc0-72f2-8cde-2428e49200b6}">
          <p14:sldIdLst>
            <p14:sldId id="274"/>
          </p14:sldIdLst>
        </p14:section>
        <p14:section name="Default-5" id="{ed0272c5-c1dc-2114-33ab-50b721887dff}">
          <p14:sldIdLst>
            <p14:sldId id="275"/>
            <p14:sldId id="276"/>
            <p14:sldId id="277"/>
          </p14:sldIdLst>
        </p14:section>
        <p14:section name="Kết" id="{72d29fc2-6b73-5203-96c8-c7f07bc3168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7 báo cáo thực hành 2: đặc tả MDP, môi trường thử nghiệm và các thuật toán SAC, TD3, PPO cho bài toán điều phối pin BESS.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img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0"/>
            <a:ext cx="5102352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40080"/>
            <a:ext cx="5029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868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BUỔI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MDP và Thuật toán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34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SEMS-RL: Điều khiển năng lượng thông minh cho microgrid có pin BESS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NHÓM 7  ·  16/10/2026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MDP biến quyết định tuần tự thành một bài toán tối ưu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Tác tử (bộ điều khiển BESS) quan sát trạng thái, chọn công suất sạc/xả, nhận phần thưởng và chuyển sang trạng thái mới.</a:t>
            </a:r>
            <a:endParaRPr lang="en-US" sz="1200" dirty="0"/>
          </a:p>
        </p:txBody>
      </p:sp>
      <p:sp>
        <p:nvSpPr>
          <p:cNvPr id="4" name="flow0"/>
          <p:cNvSpPr/>
          <p:nvPr/>
        </p:nvSpPr>
        <p:spPr>
          <a:xfrm>
            <a:off x="457200" y="182880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TRẠNG THÁI sₜ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SoC, tải, PV, giá điện, giờ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67712" y="2395728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flow1"/>
          <p:cNvSpPr/>
          <p:nvPr/>
        </p:nvSpPr>
        <p:spPr>
          <a:xfrm>
            <a:off x="2560320" y="182880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HÀNH ĐỘNG aₜ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Công suất sạc/xả chuẩn hóa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2395728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2" name="flow2"/>
          <p:cNvSpPr/>
          <p:nvPr/>
        </p:nvSpPr>
        <p:spPr>
          <a:xfrm>
            <a:off x="4663440" y="182880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PHẦN THƯỞNG rₜ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−(chi phí điện + hao mòn + phạt)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73952" y="2395728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flow3"/>
          <p:cNvSpPr/>
          <p:nvPr/>
        </p:nvSpPr>
        <p:spPr>
          <a:xfrm>
            <a:off x="6766560" y="182880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TRẠNG THÁI MỚI sₜ₊₁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SoC mới + dữ liệu phát lại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(S, A, P, R, γ),   Δt = 0,25 giờ,   T = 96 bước / episode (1 ngày vận hành)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Mục tiêu: tìm chính sách tối đa hóa tổng phần thưởng kỳ vọng dài hạn, tức là cực tiểu chi phí vận hành trong cả ngày.</a:t>
            </a:r>
            <a:endParaRPr lang="en-US" sz="13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Đóng khung bài toán của nhóm</a:t>
            </a:r>
            <a:endParaRPr lang="en-US" sz="2400" dirty="0"/>
          </a:p>
        </p:txBody>
      </p:sp>
      <p:sp>
        <p:nvSpPr>
          <p:cNvPr id="3" name="frame0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BỐI CẢNH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Điều phối nạp/xả pin BESS cho tòa nhà/nhà máy nhỏ có hệ PV 150 kWp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Tải và bức xạ mặt trời thay đổi ngẫu nhiên; giá điện theo biểu giá TOU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Đối tượng ra quyết định: bộ điều khiển BESS</a:t>
            </a:r>
            <a:endParaRPr lang="en-US" sz="1150" dirty="0"/>
          </a:p>
        </p:txBody>
      </p:sp>
      <p:sp>
        <p:nvSpPr>
          <p:cNvPr id="6" name="frame1"/>
          <p:cNvSpPr/>
          <p:nvPr/>
        </p:nvSpPr>
        <p:spPr>
          <a:xfrm>
            <a:off x="324612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VÀO → MÔ HÌNH → RA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Quan sát 7 chiều: SoC, tải, PV, giá, sin/cos giờ, cờ ngày làm việc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Chính sách MDP học bằng SAC / TD3 / PPO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Hành động tối ưu: công suất sạc/xả aₜ ∈ [−1; 1]</a:t>
            </a:r>
            <a:endParaRPr lang="en-US" sz="1150" dirty="0"/>
          </a:p>
        </p:txBody>
      </p:sp>
      <p:sp>
        <p:nvSpPr>
          <p:cNvPr id="9" name="frame2"/>
          <p:cNvSpPr/>
          <p:nvPr/>
        </p:nvSpPr>
        <p:spPr>
          <a:xfrm>
            <a:off x="603504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GIÁ TRỊ THỰC TIỄN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Giảm hóa đơn điện (sạc giờ thấp điểm, xả giờ cao điểm)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Cắt đỉnh phụ tải, tăng tự tiêu thụ PV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Hạn chế hao mòn pin và vi phạm giới hạn SoC</a:t>
            </a:r>
            <a:endParaRPr lang="en-US" sz="11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State = ảnh chụp đủ để ra quyết định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sₜ = [ SoCₜ, P_load, P_pv, C_grid, sin(2πh/24), cos(2πh/24), dₜ ]  ∈ ℝ⁷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3774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Thành phần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Ý nghĩa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Miền giá trị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Chuẩn hóa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SoCₜ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Mức dung lượng pin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[0; 1], an toàn [0,2; 0,9]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Giữ nguyên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P_load,t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Công suất tải (kW)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≥ 0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Chia P_load,max (tập train)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P_pv,t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Công suất PV (kW)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[0; P_pv,rated]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Chia công suất đỉnh PV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C_grid,t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Giá mua điện TOU (VNĐ/kWh)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 mức: thấp / bình thường / cao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Chia giá cao điểm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sin, cos(2πh/24)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Chu kỳ giờ trong ngày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[−1; 1]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Giữ nguyên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dₜ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Ngày làm việc (1) / cuối tuần (0)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{0; 1}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Giữ nguyên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Chuẩn hóa bằng thống kê tập huấn luyện (tránh rò rỉ dữ liệu) · mã hóa sin/cos giữ tính liên tục 23h45 → 0h00 · Gymnasium: Box(shape=(7,), float32)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Actions: tác tử thực sự được phép làm gì?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Một hành động liên tục aₜ ∈ [−1; 1], ánh xạ thành công suất lệnh và đi qua bộ lọc an toàn (Safety Guardrail).</a:t>
            </a:r>
            <a:endParaRPr lang="en-US" sz="1200" dirty="0"/>
          </a:p>
        </p:txBody>
      </p:sp>
      <p:sp>
        <p:nvSpPr>
          <p:cNvPr id="4" name="act0"/>
          <p:cNvSpPr/>
          <p:nvPr/>
        </p:nvSpPr>
        <p:spPr>
          <a:xfrm>
            <a:off x="45720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= −1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XẢ TỐI ĐA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P_cmd = −50 kW</a:t>
            </a:r>
            <a:endParaRPr lang="en-US" sz="1000" dirty="0"/>
          </a:p>
        </p:txBody>
      </p:sp>
      <p:sp>
        <p:nvSpPr>
          <p:cNvPr id="8" name="act1"/>
          <p:cNvSpPr/>
          <p:nvPr/>
        </p:nvSpPr>
        <p:spPr>
          <a:xfrm>
            <a:off x="256032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= 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GIỮ NGUYÊN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Pin không hoạt động</a:t>
            </a:r>
            <a:endParaRPr lang="en-US" sz="1000" dirty="0"/>
          </a:p>
        </p:txBody>
      </p:sp>
      <p:sp>
        <p:nvSpPr>
          <p:cNvPr id="12" name="act2"/>
          <p:cNvSpPr/>
          <p:nvPr/>
        </p:nvSpPr>
        <p:spPr>
          <a:xfrm>
            <a:off x="466344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&gt; 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SẠC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P_cmd = a · 50 kW</a:t>
            </a:r>
            <a:endParaRPr lang="en-US" sz="1000" dirty="0"/>
          </a:p>
        </p:txBody>
      </p:sp>
      <p:sp>
        <p:nvSpPr>
          <p:cNvPr id="16" name="act3"/>
          <p:cNvSpPr/>
          <p:nvPr/>
        </p:nvSpPr>
        <p:spPr>
          <a:xfrm>
            <a:off x="676656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Guardrail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CHIẾU KHẢ THI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SoC luôn ∈ [0,2; 0,9]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P_batt = clip( P_cmd,  P_min_feas(SoC),  P_max_feas(SoC)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P_max_feas = min( P_ch,max ,  (SoC_max − SoC)·E_cap / (η_c·Δt)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P_min_feas = −min( P_dis,max ,  (SoC − SoC_min)·E_cap·η_d / Δt 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Không gian liên tục (thay vì rời rạc hóa) cho phép điều khiển mịn, là lý do nhóm chọn SAC, TD3, PPO. Gymnasium: Box(−1, 1, shape=(1,)).</a:t>
            </a:r>
            <a:endParaRPr lang="en-US" sz="11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Transition Function: hệ thống phản ứng ra sao?</a:t>
            </a:r>
            <a:endParaRPr lang="en-US" sz="2400" dirty="0"/>
          </a:p>
        </p:txBody>
      </p:sp>
      <p:sp>
        <p:nvSpPr>
          <p:cNvPr id="3" name="sbox"/>
          <p:cNvSpPr/>
          <p:nvPr/>
        </p:nvSpPr>
        <p:spPr>
          <a:xfrm>
            <a:off x="457200" y="10058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TRẠNG THÁI s</a:t>
            </a:r>
            <a:endParaRPr lang="en-US" sz="1100" dirty="0"/>
          </a:p>
        </p:txBody>
      </p:sp>
      <p:sp>
        <p:nvSpPr>
          <p:cNvPr id="5" name="s2box"/>
          <p:cNvSpPr/>
          <p:nvPr/>
        </p:nvSpPr>
        <p:spPr>
          <a:xfrm>
            <a:off x="6858000" y="10058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0" y="1005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TRẠNG THÁI s'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097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P(s′ | s, a) = 1[SoC′ = f(SoC, a)] · P_exo(x′ | x, h, d)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Hỗn hợp: xác định + ngẫu nhiên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PHẦN XÁC ĐỊNH (nội sinh)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146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SoC′ = SoC + η_c·P_batt·Δt / E_cap  (khi sạc)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SoC′ = SoC + P_batt·Δt / (η_d·E_cap)  (khi xả)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η_c = η_d ≈ 0,92; bộ đếm giờ h và cờ ngày 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Cân bằng lưới: P_grid = P_load − P_pv + P_batt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PHẦN NGẪU NHIÊN (ngoại sinh)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Tải, PV, giá điện phát lại (replay) từ dữ liệu lịch sử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Không phụ thuộc hành động: tác tử là “người chấp nhận giá”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Thử độ bền: nhân nhiễu Gaussian P̃ = P·(1 + ε), ε ~ N(0, σ²)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Mô hình biết trước, không cần ước lượng từ tương tác</a:t>
            </a:r>
            <a:endParaRPr lang="en-US" sz="11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Reward biến mục tiêu thành tín hiệu học</a:t>
            </a:r>
            <a:endParaRPr lang="en-US" sz="2400" dirty="0"/>
          </a:p>
        </p:txBody>
      </p:sp>
      <p:sp>
        <p:nvSpPr>
          <p:cNvPr id="3" name="rform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rₜ = −( C_elec + w₁·C_deg + w₂·C_peak + w₃·P_viol )</a:t>
            </a:r>
            <a:endParaRPr lang="en-US" sz="1500" dirty="0"/>
          </a:p>
        </p:txBody>
      </p:sp>
      <p:sp>
        <p:nvSpPr>
          <p:cNvPr id="5" name="rc0"/>
          <p:cNvSpPr/>
          <p:nvPr/>
        </p:nvSpPr>
        <p:spPr>
          <a:xfrm>
            <a:off x="457200" y="20116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C_elec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Chi phí điện lưới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(C_grid·P_buy − C_feed-in·P_sell)·Δt</a:t>
            </a:r>
            <a:endParaRPr lang="en-US" sz="950" dirty="0"/>
          </a:p>
        </p:txBody>
      </p:sp>
      <p:sp>
        <p:nvSpPr>
          <p:cNvPr id="9" name="rc1"/>
          <p:cNvSpPr/>
          <p:nvPr/>
        </p:nvSpPr>
        <p:spPr>
          <a:xfrm>
            <a:off x="2542032" y="20116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C_deg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Hao mòn pin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c_wear·|P_batt|·Δt;  w₁ = 1</a:t>
            </a:r>
            <a:endParaRPr lang="en-US" sz="950" dirty="0"/>
          </a:p>
        </p:txBody>
      </p:sp>
      <p:sp>
        <p:nvSpPr>
          <p:cNvPr id="13" name="rc2"/>
          <p:cNvSpPr/>
          <p:nvPr/>
        </p:nvSpPr>
        <p:spPr>
          <a:xfrm>
            <a:off x="4626864" y="20116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64024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C_peak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Phạt công suất đỉnh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[max(0, P_buy − 90 kW)]²;  w₂ tinh chỉnh</a:t>
            </a:r>
            <a:endParaRPr lang="en-US" sz="950" dirty="0"/>
          </a:p>
        </p:txBody>
      </p:sp>
      <p:sp>
        <p:nvSpPr>
          <p:cNvPr id="17" name="rc3"/>
          <p:cNvSpPr/>
          <p:nvPr/>
        </p:nvSpPr>
        <p:spPr>
          <a:xfrm>
            <a:off x="6711696" y="20116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48856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P_viol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Phạt vi phạm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((P_cmd − P_batt)/P_max)²;  w₃ ≈ 10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Chia phần thưởng cho C_ref (giá TB × tải TB × Δt) để các thành phần cùng bậc độ lớn. Tránh “reward hacking”: so với No-battery và kiểm thử từng thành phần.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Policy chọn hành động. Value nhìn xa.</a:t>
            </a:r>
            <a:endParaRPr lang="en-US" sz="2400" dirty="0"/>
          </a:p>
        </p:txBody>
      </p:sp>
      <p:sp>
        <p:nvSpPr>
          <p:cNvPr id="3" name="pv0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POLICY π(a|s)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Gaussian nén tanh (SAC, PPO) hoặc tất định (TD3): từ trạng thái hiện tại cho ra công suất sạc/xả a ∈ [−1; 1].</a:t>
            </a:r>
            <a:endParaRPr lang="en-US" sz="1200" dirty="0"/>
          </a:p>
        </p:txBody>
      </p:sp>
      <p:sp>
        <p:nvSpPr>
          <p:cNvPr id="6" name="pv1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VALUE V(s), Q(s,a)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Ước lượng lợi ích dài hạn kỳ vọng, dùng để cải thiện policy (critic của SAC/TD3, hàm giá trị của PPO).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γ = 0,99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→ chân trời hiệu dụng 1/(1−γ) ≈ 100 bước ≈ 25 giờ, đúng một chu kỳ ngày: tác tử thấy lợi ích của việc sạc lúc 2h sáng để xả vào cao điểm 9h và 18h.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Episode kết thúc ở bước 96 kiểu cắt thời gian (truncated = True, terminated = False); SAC/TD3 vẫn bootstrap từ trạng thái cuối.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Tối ưu MDP = cải thiện policy dựa trên value.</a:t>
            </a:r>
            <a:endParaRPr lang="en-US" sz="13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Tóm tắt MDP của bài toán SEMS-RL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4805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Thành phần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Định nghĩa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Kích thước / Miền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SoC, tải, PV, giá điện, sin/cos giờ, cờ ngày làm việc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ℝ⁷ (liên tục, có 1 biến nhị phân)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Công suất sạc/xả chuẩn hóa của BESS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[−1; 1] (1 chiều, liên tục)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Động lực học SoC có hiệu suất η + dữ liệu ngoại sinh phát lại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Hỗn hợp: xác định + ngẫu nhiên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−(chi phí điện + hao mòn pin + phạt đỉnh + phạt vi phạm)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Vô hướng, chuẩn hóa theo C_ref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γ, T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Chiết khấu và chân trời một ngày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γ = 0,99;  T = 96 (Δt = 15 phút)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Khởi tạo episode: ngày ngẫu nhiên trong tập huấn luyện, SoC₀ ~ U(0,3; 0,7).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img_en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0"/>
            <a:ext cx="4142232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65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Môi trường thử nghiệm là nơi giả thuyết gặp thực tế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accent6"/>
                </a:solidFill>
              </a:rPr>
              <a:t>Digital twin chuẩn Gymnasium: lớp MicrogridBessEnv, dùng chung cho cả 3 thuật toán để so sánh công bằng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accent6"/>
                </a:solidFill>
              </a:rPr>
              <a:t>Dữ liệu: Pecan Street / CityLearn (tải), NREL (PV), biểu giá TOU của EVN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accent6"/>
                </a:solidFill>
              </a:rPr>
              <a:t>Thành phần: DataPipeline → Env + SafetyGuardrail + NoiseWrapper → Evaluator → FastAPI → Dashboard Streamlit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MỤC ĐÍCH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Tái lập · đo lường · so sánh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Giao diện môi trường và thông số mô phỏng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Giao diện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Đặc tả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observation_space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Box(shape=(7,), float32)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action_space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Box(−1, 1, shape=(1,), float32)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reset(seed, options)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Chọn ngày, SoC₀ ~ U(0,3; 0,7)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step(action)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Guardrail → cập nhật SoC → P_grid → reward; trả (obs, r, terminated, truncated, info)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info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P_grid, P_buy, P_sell, P_batt, SoC, chi phí từng thành phần, cờ bị cắt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Thông số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Giá trị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Dung lượng pin E_cap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200 kWh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Công suất sạc/xả tối đa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50 kW (0,25C)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Hiệu suất η_c / η_d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0,92 / 0,92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Dải SoC an toàn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[0,2; 0,9]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PV định mức / đỉnh tải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150 kWp / ≈ 120 kW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Ngưỡng đỉnh P_th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90 kW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Δt, T, γ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 phút, 96 bước, 0,99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Chia tập theo thời gian (không xáo trộn): train 70% · val 15% · test 15%. Cấu hình bằng tệp YAML.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Kịch bản thử nghiệm và chỉ số đánh giá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Mã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Kịch bản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Ngày làm việc điển hình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Ngày cuối tuần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Ngày nhiều mây (PV giảm ≈ 50%)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S4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Nhiễu tải/PV (σ_L 5–10%, σ_PV 10–20%)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S5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Mùa/tháng khác tập huấn luyện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005840"/>
          <a:ext cx="41605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Chỉ số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Hướng tốt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Chi phí điện/ngày J = Σ C_elec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Thấp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% chi phí tiết kiệm so với No-battery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Tỷ lệ cắt đỉnh (Peak Shaving Ratio)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Tỷ lệ tự tiêu thụ PV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Chu kỳ tương đương EFC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Vừa phải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Số lần lệnh bị cắt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Thấp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Phần thưởng TB/episode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No-battery (a = 0) chỉ là mốc tham chiếu để tính % tiết kiệm, không phải thuật toán.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Một stack gọn cho vòng lặp thử nghiệm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Ưu tiên khả năng tái lập và theo dõi thí nghiệm; mạng MLP nhỏ nên huấn luyện được trên CPU hoặc Google Colab.</a:t>
            </a:r>
            <a:endParaRPr lang="en-US" sz="1200" dirty="0"/>
          </a:p>
        </p:txBody>
      </p:sp>
      <p:sp>
        <p:nvSpPr>
          <p:cNvPr id="4" name="stk0"/>
          <p:cNvSpPr/>
          <p:nvPr/>
        </p:nvSpPr>
        <p:spPr>
          <a:xfrm>
            <a:off x="457200" y="18288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PYTHON 3.10+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NumPy, Pandas: dữ liệu &amp; logic</a:t>
            </a:r>
            <a:endParaRPr lang="en-US" sz="1050" dirty="0"/>
          </a:p>
        </p:txBody>
      </p:sp>
      <p:sp>
        <p:nvSpPr>
          <p:cNvPr id="7" name="stk1"/>
          <p:cNvSpPr/>
          <p:nvPr/>
        </p:nvSpPr>
        <p:spPr>
          <a:xfrm>
            <a:off x="2560320" y="18288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7004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GYMNASIUM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70048" y="25146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MicrogridBessEnv chuẩn hóa</a:t>
            </a:r>
            <a:endParaRPr lang="en-US" sz="1050" dirty="0"/>
          </a:p>
        </p:txBody>
      </p:sp>
      <p:sp>
        <p:nvSpPr>
          <p:cNvPr id="10" name="stk2"/>
          <p:cNvSpPr/>
          <p:nvPr/>
        </p:nvSpPr>
        <p:spPr>
          <a:xfrm>
            <a:off x="4663440" y="18288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316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PYTORCH + SB3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25146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SAC, TD3 tự viết; PPO dùng SB3</a:t>
            </a:r>
            <a:endParaRPr lang="en-US" sz="1050" dirty="0"/>
          </a:p>
        </p:txBody>
      </p:sp>
      <p:sp>
        <p:nvSpPr>
          <p:cNvPr id="13" name="stk3"/>
          <p:cNvSpPr/>
          <p:nvPr/>
        </p:nvSpPr>
        <p:spPr>
          <a:xfrm>
            <a:off x="6766560" y="18288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7628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TENSORBOARD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5146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Log &amp; so sánh thí nghiệm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Quy trình: 4 bước Cài đặt → Cấu hình → Kiểm thử → Ghi nhận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Khóa: seed 0–4 · phiên bản thư viện · số bước · γ · lr · batch · α/σ</a:t>
            </a:r>
            <a:endParaRPr lang="en-US" sz="11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Ba thuật toán cho hành động liên tục</a:t>
            </a:r>
            <a:endParaRPr lang="en-US" sz="2400" dirty="0"/>
          </a:p>
        </p:txBody>
      </p:sp>
      <p:sp>
        <p:nvSpPr>
          <p:cNvPr id="3" name="alg0"/>
          <p:cNvSpPr/>
          <p:nvPr/>
        </p:nvSpPr>
        <p:spPr>
          <a:xfrm>
            <a:off x="457200" y="109728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SAC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Off-policy · entropy cực đại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Lõi chính: ổn định, hiệu quả mẫu, thăm dò tốt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PHỤ TRÁCH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Trường (cài đặt) · Huỳnh (hàm thưởng)</a:t>
            </a:r>
            <a:endParaRPr lang="en-US" sz="1050" dirty="0"/>
          </a:p>
        </p:txBody>
      </p:sp>
      <p:sp>
        <p:nvSpPr>
          <p:cNvPr id="9" name="alg1"/>
          <p:cNvSpPr/>
          <p:nvPr/>
        </p:nvSpPr>
        <p:spPr>
          <a:xfrm>
            <a:off x="3246120" y="109728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TD3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Off-policy · tất định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Đối chuẩn: twin critic chống ước lượng quá cao Q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PHỤ TRÁCH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Phạm Quang Anh</a:t>
            </a:r>
            <a:endParaRPr lang="en-US" sz="1050" dirty="0"/>
          </a:p>
        </p:txBody>
      </p:sp>
      <p:sp>
        <p:nvSpPr>
          <p:cNvPr id="15" name="alg2"/>
          <p:cNvSpPr/>
          <p:nvPr/>
        </p:nvSpPr>
        <p:spPr>
          <a:xfrm>
            <a:off x="6035040" y="109728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PPO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On-policy · policy gradient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Đối chuẩn on-policy chuẩn mực, GAE + clip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PHỤ TRÁCH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Dương · Sơn (hỗ trợ)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Q-Learning/SARSA/DQN chỉ áp dụng cho hành động rời rạc; do a ∈ [−1; 1] liên tục nên nhóm chọn 3 thuật toán trên.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SAC: Soft Actor-Critic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Cực đại hóa đồng thời phần thưởng kỳ vọng và entropy; chính sách Gaussian nén tanh bảo đảm a ∈ [−1; 1]; hệ số nhiệt α tự điều chỉnh theo entropy mục tiêu H̄ = −1.</a:t>
            </a:r>
            <a:endParaRPr lang="en-US" sz="1150" dirty="0"/>
          </a:p>
        </p:txBody>
      </p:sp>
      <p:sp>
        <p:nvSpPr>
          <p:cNvPr id="4" name="pseudo"/>
          <p:cNvSpPr/>
          <p:nvPr/>
        </p:nvSpPr>
        <p:spPr>
          <a:xfrm>
            <a:off x="457200" y="1554480"/>
            <a:ext cx="475488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Khởi tạo π_φ, Q_θ1, Q_θ2, critic đích, D = ∅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= 1…N_total: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&lt; N_start: a ~ U(−1, 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ngược lại: u ~ N(μ,σ), a = tanh(u)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s′, r ← E.step(a); lưu (s,a,r,s′,d) vào 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lấy batch B từ D; a′ ~ π(·|s′)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r + γ(1−d)[min Q_tg − α·logπ(a′|s′)]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cập nhật 2 critic: MSE(Q, y)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cập nhật actor: α·logπ − min Q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cập nhật α; cập nhật mềm critic đích τ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Đánh giá: a = tanh(μ_φ(s)) (tất định)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554480"/>
          <a:ext cx="3246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Siêu tham số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Giá trị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Mạng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 lớp ẩn 256, ReLU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Tốc độ học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3e-4 (Adam)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γ, τ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0,99; 0,005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Batch; buffer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256; 200.000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N_start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5.000 bước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Tổng số bước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300.000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α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Tự điều chỉnh, init 1,0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TD3: Twin Delayed DDPG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Cải tiến DDPG bằng ba kỹ thuật: hai critic lấy giá trị nhỏ hơn, cập nhật actor trễ, làm mượt hành động đích bằng nhiễu có cắt. Chính sách tất định, thăm dò bằng nhiễu Gaussian.</a:t>
            </a:r>
            <a:endParaRPr lang="en-US" sz="1150" dirty="0"/>
          </a:p>
        </p:txBody>
      </p:sp>
      <p:sp>
        <p:nvSpPr>
          <p:cNvPr id="4" name="pseudo"/>
          <p:cNvSpPr/>
          <p:nvPr/>
        </p:nvSpPr>
        <p:spPr>
          <a:xfrm>
            <a:off x="457200" y="1554480"/>
            <a:ext cx="475488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Khởi tạo actor π_φ, critic Q_θ1, Q_θ2 + mạng đích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= 1…N_total: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&lt; N_start: a ~ U(−1, 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ngược lại: a = clip(π(s) + ε, −1, 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lưu (s,a,r,s′,d) vào D; lấy batch B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ε′ = clip(N(0,σ_smooth), −c, c)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ã = clip(π_tg(s′) + ε′, −1, 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r + γ(1−d)·min(Q1_tg, Q2_tg)(s′, ã)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cập nhật Q1, Q2 bằng MSE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nếu step mod d_delay = 0: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cập nhật actor + cập nhật mềm mạng đích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554480"/>
          <a:ext cx="3246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Siêu tham số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Giá trị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Mạng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 lớp ẩn 256, ReLU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Tốc độ học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1e-3 (có thể 3e-4)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d_delay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σ_explore; σ_smooth; 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0,1; 0,2; 0,5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γ, τ, batch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0,99; 0,005; 256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PPO: Proximal Policy Optimization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Thuật toán on-policy: cập nhật chính sách trong vùng tin cậy bằng hàm mục tiêu cắt tỷ lệ xác suất, ước lượng lợi thế bằng GAE. Là mốc so sánh on-policy với SAC và TD3.</a:t>
            </a:r>
            <a:endParaRPr lang="en-US" sz="1150" dirty="0"/>
          </a:p>
        </p:txBody>
      </p:sp>
      <p:sp>
        <p:nvSpPr>
          <p:cNvPr id="4" name="pseudo"/>
          <p:cNvSpPr/>
          <p:nvPr/>
        </p:nvSpPr>
        <p:spPr>
          <a:xfrm>
            <a:off x="457200" y="1554480"/>
            <a:ext cx="475488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Khởi tạo policy π_θ (Gaussian) và V_θ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iteration = 1, 2, …: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thu N_steps bước bằng π_old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tính GAE: δ = r + γV(s′)(1−d) − V(s)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Â = δ + γλ(1−d)Â_next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chuẩn hóa Â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epoch = 1…K, mỗi minibatch M: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ρ = exp(logπ_θ − logπ_old)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L_clip = −mean(min(ρÂ, clip(ρ,1±ε)Â))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 = L_clip + c_v·L_V + c_e·L_H; Adam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dừng sớm nếu KL &gt; target_KL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554480"/>
          <a:ext cx="3246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Siêu tham số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Giá trị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Mạng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 lớp ẩn 64–256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Tốc độ học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3e-4 (Adam)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N_steps × n_envs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480 × 4 = 1.920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K; M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10; 64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γ; λ_GAE; ε_clip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0,99; 0,95; 0,2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c_v; c_e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0,5; 0,0–0,01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Pipeline đánh giá công bằng cho mọi phương pháp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Cùng tập kiểm thử, cùng chuỗi ngày và cùng bộ hạt giống cho mọi phương pháp.</a:t>
            </a:r>
            <a:endParaRPr lang="en-US" sz="1200" dirty="0"/>
          </a:p>
        </p:txBody>
      </p:sp>
      <p:sp>
        <p:nvSpPr>
          <p:cNvPr id="4" name="pp0"/>
          <p:cNvSpPr/>
          <p:nvPr/>
        </p:nvSpPr>
        <p:spPr>
          <a:xfrm>
            <a:off x="45720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Kịch bản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S1…S5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38528" y="2423160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pp1"/>
          <p:cNvSpPr/>
          <p:nvPr/>
        </p:nvSpPr>
        <p:spPr>
          <a:xfrm>
            <a:off x="2121408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Phương pháp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No-battery, SAC,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TD3, PPO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02736" y="2423160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0" name="pp2"/>
          <p:cNvSpPr/>
          <p:nvPr/>
        </p:nvSpPr>
        <p:spPr>
          <a:xfrm>
            <a:off x="3785616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58768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Mỗi RL: 5 seed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(0–4), checkpoint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tốt nhất trên 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66944" y="2423160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3" name="pp3"/>
          <p:cNvSpPr/>
          <p:nvPr/>
        </p:nvSpPr>
        <p:spPr>
          <a:xfrm>
            <a:off x="5449824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22976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Chạy D_test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tất định, 96 bước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mỗi ngày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31152" y="2423160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6" name="pp4"/>
          <p:cNvSpPr/>
          <p:nvPr/>
        </p:nvSpPr>
        <p:spPr>
          <a:xfrm>
            <a:off x="7114032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87184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Tổng hợp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trung bình ± độ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lệch chuẩn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% tiết kiệm = (J_nobat − J_m) / J_nobat × 100.  Đầu ra: bảng so sánh, biểu đồ hội tụ, biểu đồ SoC/công suất → Dashboard Streamlit.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Tiến độ nhóm: từ mô hình đến thực nghiệm</a:t>
            </a:r>
            <a:endParaRPr lang="en-US" sz="2400" dirty="0"/>
          </a:p>
        </p:txBody>
      </p:sp>
      <p:sp>
        <p:nvSpPr>
          <p:cNvPr id="3" name="pg0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Đặc tả đầy đủ MDP (S, A, P, R, γ)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Thiết kế hàm thưởng đa mục tiêu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Mã giả SAC, TD3, PPO và siêu tham số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Bộ chỉ số, kịch bản S1–S5, lược đồ dữ liệu</a:t>
            </a:r>
            <a:endParaRPr lang="en-US" sz="1100" dirty="0"/>
          </a:p>
        </p:txBody>
      </p:sp>
      <p:sp>
        <p:nvSpPr>
          <p:cNvPr id="6" name="pg1"/>
          <p:cNvSpPr/>
          <p:nvPr/>
        </p:nvSpPr>
        <p:spPr>
          <a:xfrm>
            <a:off x="324612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TRIỂN KHAI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45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Cài đặt MicrogridBessEnv (reset/step, guardrail)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Cài đặt SAC, TD3 bằng PyTorch; PPO bằng SB3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Pipeline resample 15 phút, NoiseWrapper, No-battery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Tinh chỉnh w₁, w₂, w₃</a:t>
            </a:r>
            <a:endParaRPr lang="en-US" sz="1100" dirty="0"/>
          </a:p>
        </p:txBody>
      </p:sp>
      <p:sp>
        <p:nvSpPr>
          <p:cNvPr id="9" name="pg2"/>
          <p:cNvSpPr/>
          <p:nvPr/>
        </p:nvSpPr>
        <p:spPr>
          <a:xfrm>
            <a:off x="603504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TIẾP THEO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45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Thực hành 3: hoàn thiện Env, chốt hàm thưởng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Thực hành 4–5: huấn luyện, tinh chỉnh, đánh giá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Thực hành 6: FastAPI, Dashboard, bảo vệ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Thành viên 1–3</a:t>
            </a:r>
            <a:endParaRPr lang="en-US" sz="2400" dirty="0"/>
          </a:p>
        </p:txBody>
      </p:sp>
      <p:sp>
        <p:nvSpPr>
          <p:cNvPr id="3" name="mem0"/>
          <p:cNvSpPr/>
          <p:nvPr/>
        </p:nvSpPr>
        <p:spPr>
          <a:xfrm>
            <a:off x="45720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Nguyễn Văn Huỳnh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2351170599 · Nhóm trưởng, SAC &amp; hàm thưởng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Đặc tả MDP (S, A, P, R, γ); hàm thưởng chuẩn hóa theo C_ref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Điều phối tiến độ chung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Tinh chỉnh w₁, w₂, w₃ trên môi trường mẫu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Phối hợp Trường cài đặt SAC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Chạy huấn luyện SAC nhiều seed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Báo cáo phân tích hàm thưởng</a:t>
            </a:r>
            <a:endParaRPr lang="en-US" sz="950" dirty="0"/>
          </a:p>
        </p:txBody>
      </p:sp>
      <p:sp>
        <p:nvSpPr>
          <p:cNvPr id="12" name="mem1"/>
          <p:cNvSpPr/>
          <p:nvPr/>
        </p:nvSpPr>
        <p:spPr>
          <a:xfrm>
            <a:off x="32461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Lý Đình Sơn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2351170615 · Môi trường &amp; động lực học pin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Đặc tả MicrogridBessEnv (S, A, Gymnasium)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Chuẩn hóa động lực học pin, quy ước dấu; logic Safety Guardrail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Cài đặt reset()/step()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Kiểm thử đơn vị phương trình SoC và guardrail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Bàn giao môi trường v1.0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Tích hợp dữ liệu, NoiseWrapper; hỗ trợ Dương chạy PPO</a:t>
            </a:r>
            <a:endParaRPr lang="en-US" sz="950" dirty="0"/>
          </a:p>
        </p:txBody>
      </p:sp>
      <p:sp>
        <p:nvSpPr>
          <p:cNvPr id="21" name="mem2"/>
          <p:cNvSpPr/>
          <p:nvPr/>
        </p:nvSpPr>
        <p:spPr>
          <a:xfrm>
            <a:off x="60350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Nguyễn Văn Trường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2351170625 · SAC Lead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Mã giả SAC và siêu tham số khởi tạo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Phác thảo kiến trúc Actor–Critic (Gaussian + tanh)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Cài đặt SAC bằng PyTorch (replay buffer, auto-α)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Huấn luyện thử trên môi trường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Tối ưu tốc độ hội tụ</a:t>
            </a:r>
            <a:endParaRPr lang="en-US" sz="95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Thành viên 4–6</a:t>
            </a:r>
            <a:endParaRPr lang="en-US" sz="2400" dirty="0"/>
          </a:p>
        </p:txBody>
      </p:sp>
      <p:sp>
        <p:nvSpPr>
          <p:cNvPr id="3" name="mem3"/>
          <p:cNvSpPr/>
          <p:nvPr/>
        </p:nvSpPr>
        <p:spPr>
          <a:xfrm>
            <a:off x="45720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Phạm Quang Anh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2351170573 · TD3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Mã giả TD3 và siêu tham số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Phác thảo twin critic và cập nhật trễ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Cài đặt TD3 (twin critic, cập nhật trễ, làm mượt hành động đích)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Huấn luyện thử TD3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So sánh SAC và TD3</a:t>
            </a:r>
            <a:endParaRPr lang="en-US" sz="950" dirty="0"/>
          </a:p>
        </p:txBody>
      </p:sp>
      <p:sp>
        <p:nvSpPr>
          <p:cNvPr id="12" name="mem4"/>
          <p:cNvSpPr/>
          <p:nvPr/>
        </p:nvSpPr>
        <p:spPr>
          <a:xfrm>
            <a:off x="32461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Nguyễn Tùng Dương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2351170588 · PPO &amp; Đánh giá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Mã giả PPO (GAE, clip)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Bộ chỉ số, quy trình đánh giá, khung slide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Cấu hình PPO bằng SB3 (cùng Sơn)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Viết evaluate.py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Pipeline đánh giá tổng hợp, bảng so sánh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Hoàn thiện slide</a:t>
            </a:r>
            <a:endParaRPr lang="en-US" sz="950" dirty="0"/>
          </a:p>
        </p:txBody>
      </p:sp>
      <p:sp>
        <p:nvSpPr>
          <p:cNvPr id="21" name="mem5"/>
          <p:cNvSpPr/>
          <p:nvPr/>
        </p:nvSpPr>
        <p:spPr>
          <a:xfrm>
            <a:off x="60350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Nguyễn Thị Cẩm Ly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389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2351170605 · Dữ liệu &amp; ứng dụng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ĐÃ HOÀN THÀNH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Lược đồ processed.csv, tiền xử lý, chia train/val/test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Kịch bản S1–S5; khảo sát FastAPI, Streamlit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944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Pipeline resample 15 phút, làm sạch dữ liệu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NoiseWrapper, mốc No-battery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KẾ HOẠCH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813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Xây dựng FastAPI (/predict)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Dựng Dashboard Streamlit</a:t>
            </a:r>
            <a:endParaRPr lang="en-US" sz="95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Kế hoạch tiếp theo và rủi ro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Buổi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Nội dung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Phụ trách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Thực hành 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Hoàn thiện Env, kiểm thử dữ liệu, chạy No-battery, chốt hàm thưởng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Sơn, Ly, Huỳnh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Thực hành 4–5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Huấn luyện, tinh chỉnh SAC, TD3, PPO; chạy pipeline đánh giá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Huỳnh + Trường (SAC), Quang Anh (TD3), Dương + Sơn (PPO)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Thực hành 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Tích hợp FastAPI, Dashboard; nghiệm thu, bảo vệ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Ly, Dương, cả nhóm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Rủi ro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Hướng xử lý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Thang đo phần thưởng lệch (VNĐ lớn so với phạt)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Chuẩn hóa theo C_ref; quét lưới nhỏ w₁..₃ trên tập val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Tác tử học chính sách “không làm gì” (a = 0)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 sánh với No-battery; tăng thăm dò (N_start, α, σ_explore)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Dữ liệu thiếu hoặc lệch quy mô hệ thống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 giãn dữ liệu, bổ sung dữ liệu tổng hợp NREL; ghi rõ giả định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Từ định nghĩa rõ đến thử nghiệm đáng tin</a:t>
            </a:r>
            <a:endParaRPr lang="en-US" sz="2600" dirty="0"/>
          </a:p>
        </p:txBody>
      </p:sp>
      <p:sp>
        <p:nvSpPr>
          <p:cNvPr id="3" name="cl0"/>
          <p:cNvSpPr/>
          <p:nvPr/>
        </p:nvSpPr>
        <p:spPr>
          <a:xfrm>
            <a:off x="4572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  CHỐT MDP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 (7 chiều) · A ∈ [−1; 1] · P · R · γ = 0,99</a:t>
            </a:r>
            <a:endParaRPr lang="en-US" sz="1100" dirty="0"/>
          </a:p>
        </p:txBody>
      </p:sp>
      <p:sp>
        <p:nvSpPr>
          <p:cNvPr id="6" name="cl1"/>
          <p:cNvSpPr/>
          <p:nvPr/>
        </p:nvSpPr>
        <p:spPr>
          <a:xfrm>
            <a:off x="324612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  CÀI BASELINE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94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SAC · TD3 · PPO + mốc No-battery</a:t>
            </a:r>
            <a:endParaRPr lang="en-US" sz="1100" dirty="0"/>
          </a:p>
        </p:txBody>
      </p:sp>
      <p:sp>
        <p:nvSpPr>
          <p:cNvPr id="9" name="cl2"/>
          <p:cNvSpPr/>
          <p:nvPr/>
        </p:nvSpPr>
        <p:spPr>
          <a:xfrm>
            <a:off x="60350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03  ĐO &amp; SO SÁNH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seed · kịch bản S1–S5 · phân tích kết quả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CẢM ƠN  ·  HỎI &amp; ĐÁP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Nhóm 7 – Lớp 65KTPM – GVHD: TS. Lê Nguyễn Tuấn Thành</a:t>
            </a:r>
            <a:endParaRPr lang="en-US" sz="10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S-RL">
  <a:themeElements>
    <a:clrScheme name="SEMS-RL">
      <a:dk1>
        <a:srgbClr val="071820"/>
      </a:dk1>
      <a:lt1>
        <a:srgbClr val="FFFFFF"/>
      </a:lt1>
      <a:dk2>
        <a:srgbClr val="10303A"/>
      </a:dk2>
      <a:lt2>
        <a:srgbClr val="F3F0E6"/>
      </a:lt2>
      <a:accent1>
        <a:srgbClr val="1EC5B8"/>
      </a:accent1>
      <a:accent2>
        <a:srgbClr val="D9F26B"/>
      </a:accent2>
      <a:accent3>
        <a:srgbClr val="FF7F5C"/>
      </a:accent3>
      <a:accent4>
        <a:srgbClr val="5F7479"/>
      </a:accent4>
      <a:accent5>
        <a:srgbClr val="0E2A33"/>
      </a:accent5>
      <a:accent6>
        <a:srgbClr val="B9C7C9"/>
      </a:accent6>
      <a:hlink>
        <a:srgbClr val="1EC5B8"/>
      </a:hlink>
      <a:folHlink>
        <a:srgbClr val="5F7479"/>
      </a:folHlink>
    </a:clrScheme>
    <a:fontScheme name="SEMS-R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SEMS-RL – Đánh giá buổi thực hành 2 – Nhóm 7</dc:title>
  <dc:subject>PptxGenJS Presentation</dc:subject>
  <dc:creator>PptxGenJS</dc:creator>
  <cp:lastModifiedBy>PptxGenJS</cp:lastModifiedBy>
  <cp:revision>1</cp:revision>
  <dcterms:created xsi:type="dcterms:W3CDTF">2026-10-16T14:41:25Z</dcterms:created>
  <dcterms:modified xsi:type="dcterms:W3CDTF">2026-10-16T14:41:25Z</dcterms:modified>
</cp:coreProperties>
</file>